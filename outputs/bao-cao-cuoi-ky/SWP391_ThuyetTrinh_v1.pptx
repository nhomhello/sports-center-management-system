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00:00–01:00. Nhóm trình bày Sports Center Management System cho SWP391 FA26, đề tài 4. Nêu tên bốn thành viên và phạm vi hệ thống. Phần chia việc trên slide là nhóm công việc tiêu biểu; đóng góp đầy đủ xem task sheet và Git. Ở Sprint 4, Bảo nhận toàn bộ phần trước đây giao Nhanh; Khôi làm hồ sơ full-stack, Khải FE tổng kết và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01:00–02:00. Dùng một tình huống xuyên suốt: hội viên mua khóa nhưng chuyển thiếu tiền, trong khi chỗ lớp phải được giữ đúng hạn. Nếu chỉ quản lý bằng tin nhắn/bảng tính, trạng thái tiền, chỗ và thông báo có thể lệch nhau. Mục tiêu là kiểm soát các điểm này bằng một luồng có trạng thái, quyền và lịch sử. Không nêu số liệu tiết kiệm thời gian hay doanh thu vì nhóm chưa có đo đạc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02:00–03:30. Giải thích hai sản phẩm độc lập: kỳ gói cho quyền tự tập; khóa/lớp có đăng ký riêng, có thể miễn phí hoặc thu học phí. Lớp thu phí tạo hóa đơn và giữ chỗ; chỉ khi đủ tiền mới BOOKED. Lễ tân làm hộ dùng cùng luật với hội viên nhưng ghi đúng người thao tác. HLV chỉ có học viên theo các buổi thực dạy và đồng ý chia sẻ. Mọi thao tác quan trọng kiểm tra permission ở API, menu không phải ranh giới bảo vệ.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03:30–05:00. Dự án là npm workspaces: core/fe, core/be và core/shared. Browser gửi HTTP JSON; Express xác thực JWT, nạp permission và validate Zod trước service. Service dùng Prisma với MySQL. Tranh chấp chỗ và thanh toán được kiểm tra lại trong transaction có khóa. Worker chạy cùng vòng đời server, chưa phải một dịch vụ queue riêng. SePay gọi webhook vào API; SMTP gửi từ server. Tổng kết công bố có snapshot, revision và audit; báo cáo dùng cùng builder khi xem và xuất 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05:00–06:00: giới thiệu thứ tự rồi chuyển trình duyệt. Demo 06:00–24:00 theo runbook. 24:00–26:00 mở một task, commit thật, service và test có liên quan; phân biệt ngày kế hoạch với author/committer date. 26:00–28:00 hỏi đáp. Giữ sẵn profile bốn vai trò, hóa đơn mới và một tổng kết DRAFT. Dùng simulator local đã kiểm tra, không chuyển tiền thật. Nếu webhook không sẵn, đổi sang thu quầy và nói rõ kênh thay thế. Cần cả nhóm diễn tập trực tiếp trước nộp; việc tạo kịch bản không có nghĩa đã diễn tập.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C43"/>
        </a:solidFill>
        <a:effectLst/>
      </p:bgPr>
    </p:bg>
    <p:spTree>
      <p:nvGrpSpPr>
        <p:cNvPr id="1" name=""/>
        <p:cNvGrpSpPr/>
        <p:nvPr/>
      </p:nvGrpSpPr>
      <p:grpSpPr/>
      <p:sp>
        <p:nvSpPr>
          <p:cNvPr id="2" name="TextBox 1"/>
          <p:cNvSpPr txBox="1"/>
          <p:nvPr/>
        </p:nvSpPr>
        <p:spPr>
          <a:xfrm>
            <a:off x="502920" y="228600"/>
            <a:ext cx="10058400" cy="320040"/>
          </a:xfrm>
          <a:prstGeom prst="rect">
            <a:avLst/>
          </a:prstGeom>
          <a:noFill/>
        </p:spPr>
        <p:txBody>
          <a:bodyPr wrap="square" lIns="27432" rIns="27432" tIns="18288" bIns="18288">
            <a:spAutoFit/>
          </a:bodyPr>
          <a:lstStyle/>
          <a:p>
            <a:pPr>
              <a:spcAft>
                <a:spcPts val="900"/>
              </a:spcAft>
              <a:defRPr sz="1200" b="1">
                <a:solidFill>
                  <a:srgbClr val="8FC8DE"/>
                </a:solidFill>
                <a:latin typeface="DejaVu Sans"/>
              </a:defRPr>
            </a:pPr>
            <a:r>
              <a:t>01  GIỚI THIỆU</a:t>
            </a:r>
          </a:p>
        </p:txBody>
      </p:sp>
      <p:sp>
        <p:nvSpPr>
          <p:cNvPr id="3" name="TextBox 2"/>
          <p:cNvSpPr txBox="1"/>
          <p:nvPr/>
        </p:nvSpPr>
        <p:spPr>
          <a:xfrm>
            <a:off x="502920" y="731520"/>
            <a:ext cx="11064240" cy="1097280"/>
          </a:xfrm>
          <a:prstGeom prst="rect">
            <a:avLst/>
          </a:prstGeom>
          <a:noFill/>
        </p:spPr>
        <p:txBody>
          <a:bodyPr wrap="square" lIns="27432" rIns="27432" tIns="18288" bIns="18288">
            <a:spAutoFit/>
          </a:bodyPr>
          <a:lstStyle/>
          <a:p>
            <a:pPr>
              <a:spcAft>
                <a:spcPts val="900"/>
              </a:spcAft>
              <a:defRPr sz="3200" b="1">
                <a:solidFill>
                  <a:srgbClr val="FFFFFF"/>
                </a:solidFill>
                <a:latin typeface="DejaVu Sans"/>
              </a:defRPr>
            </a:pPr>
            <a:r>
              <a:t>Hệ thống quản lý</a:t>
            </a:r>
          </a:p>
          <a:p>
            <a:pPr>
              <a:spcAft>
                <a:spcPts val="900"/>
              </a:spcAft>
              <a:defRPr sz="3200" b="1">
                <a:solidFill>
                  <a:srgbClr val="FFFFFF"/>
                </a:solidFill>
                <a:latin typeface="DejaVu Sans"/>
              </a:defRPr>
            </a:pPr>
            <a:r>
              <a:t>trung tâm thể thao</a:t>
            </a:r>
          </a:p>
        </p:txBody>
      </p:sp>
      <p:sp>
        <p:nvSpPr>
          <p:cNvPr id="4" name="TextBox 3"/>
          <p:cNvSpPr txBox="1"/>
          <p:nvPr/>
        </p:nvSpPr>
        <p:spPr>
          <a:xfrm>
            <a:off x="502920" y="6473952"/>
            <a:ext cx="10058400" cy="201168"/>
          </a:xfrm>
          <a:prstGeom prst="rect">
            <a:avLst/>
          </a:prstGeom>
          <a:noFill/>
        </p:spPr>
        <p:txBody>
          <a:bodyPr wrap="square" lIns="27432" rIns="27432" tIns="18288" bIns="18288">
            <a:spAutoFit/>
          </a:bodyPr>
          <a:lstStyle/>
          <a:p>
            <a:pPr>
              <a:spcAft>
                <a:spcPts val="900"/>
              </a:spcAft>
              <a:defRPr sz="800" b="0">
                <a:solidFill>
                  <a:srgbClr val="B3CAD7"/>
                </a:solidFill>
                <a:latin typeface="DejaVu Sans"/>
              </a:defRPr>
            </a:pPr>
            <a:r>
              <a:t>SPORTS CENTER  /  SWP391 FA26  /  NHÓM NHANH · BẢO · KHÔI · KHẢI</a:t>
            </a:r>
          </a:p>
        </p:txBody>
      </p:sp>
      <p:sp>
        <p:nvSpPr>
          <p:cNvPr id="5" name="TextBox 4"/>
          <p:cNvSpPr txBox="1"/>
          <p:nvPr/>
        </p:nvSpPr>
        <p:spPr>
          <a:xfrm>
            <a:off x="11064240" y="6419088"/>
            <a:ext cx="548640" cy="320040"/>
          </a:xfrm>
          <a:prstGeom prst="rect">
            <a:avLst/>
          </a:prstGeom>
          <a:noFill/>
        </p:spPr>
        <p:txBody>
          <a:bodyPr wrap="square" lIns="27432" rIns="27432" tIns="18288" bIns="18288">
            <a:spAutoFit/>
          </a:bodyPr>
          <a:lstStyle/>
          <a:p>
            <a:pPr>
              <a:spcAft>
                <a:spcPts val="900"/>
              </a:spcAft>
              <a:defRPr sz="1000" b="0">
                <a:solidFill>
                  <a:srgbClr val="B3CAD7"/>
                </a:solidFill>
                <a:latin typeface="DejaVu Sans"/>
              </a:defRPr>
            </a:pPr>
            <a:r>
              <a:t>01 / 05</a:t>
            </a:r>
          </a:p>
        </p:txBody>
      </p:sp>
      <p:sp>
        <p:nvSpPr>
          <p:cNvPr id="6" name="TextBox 5"/>
          <p:cNvSpPr txBox="1"/>
          <p:nvPr/>
        </p:nvSpPr>
        <p:spPr>
          <a:xfrm>
            <a:off x="548640" y="2148840"/>
            <a:ext cx="9601200" cy="548640"/>
          </a:xfrm>
          <a:prstGeom prst="rect">
            <a:avLst/>
          </a:prstGeom>
          <a:noFill/>
        </p:spPr>
        <p:txBody>
          <a:bodyPr wrap="square" lIns="27432" rIns="27432" tIns="18288" bIns="18288">
            <a:spAutoFit/>
          </a:bodyPr>
          <a:lstStyle/>
          <a:p>
            <a:pPr>
              <a:spcAft>
                <a:spcPts val="900"/>
              </a:spcAft>
              <a:defRPr sz="2100" b="0">
                <a:solidFill>
                  <a:srgbClr val="C6DDE9"/>
                </a:solidFill>
                <a:latin typeface="DejaVu Sans"/>
              </a:defRPr>
            </a:pPr>
            <a:r>
              <a:t>Từ mua gói và đăng ký lớp đến thanh toán, kết quả và báo cáo</a:t>
            </a:r>
          </a:p>
        </p:txBody>
      </p:sp>
      <p:sp>
        <p:nvSpPr>
          <p:cNvPr id="7" name="Rounded Rectangle 6"/>
          <p:cNvSpPr/>
          <p:nvPr/>
        </p:nvSpPr>
        <p:spPr>
          <a:xfrm>
            <a:off x="548640" y="2971800"/>
            <a:ext cx="10881360" cy="621792"/>
          </a:xfrm>
          <a:prstGeom prst="roundRect">
            <a:avLst/>
          </a:prstGeom>
          <a:solidFill>
            <a:srgbClr val="1B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90672"/>
            <a:ext cx="10515600" cy="365760"/>
          </a:xfrm>
          <a:prstGeom prst="rect">
            <a:avLst/>
          </a:prstGeom>
          <a:noFill/>
        </p:spPr>
        <p:txBody>
          <a:bodyPr wrap="square" lIns="27432" rIns="27432" tIns="18288" bIns="18288">
            <a:spAutoFit/>
          </a:bodyPr>
          <a:lstStyle/>
          <a:p>
            <a:pPr>
              <a:spcAft>
                <a:spcPts val="900"/>
              </a:spcAft>
              <a:defRPr sz="1600" b="0">
                <a:solidFill>
                  <a:srgbClr val="FFFFFF"/>
                </a:solidFill>
                <a:latin typeface="DejaVu Sans"/>
              </a:defRPr>
            </a:pPr>
            <a:r>
              <a:t>4 vai trò nghiệp vụ  •  Quyền từ DB  •  Giao dịch có lịch sử  •  Demo local</a:t>
            </a:r>
          </a:p>
        </p:txBody>
      </p:sp>
      <p:sp>
        <p:nvSpPr>
          <p:cNvPr id="9" name="TextBox 8"/>
          <p:cNvSpPr txBox="1"/>
          <p:nvPr/>
        </p:nvSpPr>
        <p:spPr>
          <a:xfrm>
            <a:off x="594360" y="4160520"/>
            <a:ext cx="2651760" cy="457200"/>
          </a:xfrm>
          <a:prstGeom prst="rect">
            <a:avLst/>
          </a:prstGeom>
          <a:noFill/>
        </p:spPr>
        <p:txBody>
          <a:bodyPr wrap="square" lIns="27432" rIns="27432" tIns="18288" bIns="18288">
            <a:spAutoFit/>
          </a:bodyPr>
          <a:lstStyle/>
          <a:p>
            <a:pPr>
              <a:spcAft>
                <a:spcPts val="900"/>
              </a:spcAft>
              <a:defRPr sz="2300" b="1">
                <a:solidFill>
                  <a:srgbClr val="FFFFFF"/>
                </a:solidFill>
                <a:latin typeface="DejaVu Sans"/>
              </a:defRPr>
            </a:pPr>
            <a:r>
              <a:t>Nhanh</a:t>
            </a:r>
          </a:p>
        </p:txBody>
      </p:sp>
      <p:sp>
        <p:nvSpPr>
          <p:cNvPr id="10" name="TextBox 9"/>
          <p:cNvSpPr txBox="1"/>
          <p:nvPr/>
        </p:nvSpPr>
        <p:spPr>
          <a:xfrm>
            <a:off x="594360" y="4754880"/>
            <a:ext cx="2606040" cy="960120"/>
          </a:xfrm>
          <a:prstGeom prst="rect">
            <a:avLst/>
          </a:prstGeom>
          <a:noFill/>
        </p:spPr>
        <p:txBody>
          <a:bodyPr wrap="square" lIns="27432" rIns="27432" tIns="18288" bIns="18288">
            <a:spAutoFit/>
          </a:bodyPr>
          <a:lstStyle/>
          <a:p>
            <a:pPr>
              <a:spcAft>
                <a:spcPts val="900"/>
              </a:spcAft>
              <a:defRPr sz="1400" b="0">
                <a:solidFill>
                  <a:srgbClr val="C6DDE9"/>
                </a:solidFill>
                <a:latin typeface="DejaVu Sans"/>
              </a:defRPr>
            </a:pPr>
            <a:r>
              <a:t>Nền tảng và thanh toán</a:t>
            </a:r>
          </a:p>
          <a:p>
            <a:pPr>
              <a:spcAft>
                <a:spcPts val="900"/>
              </a:spcAft>
              <a:defRPr sz="1400" b="0">
                <a:solidFill>
                  <a:srgbClr val="C6DDE9"/>
                </a:solidFill>
                <a:latin typeface="DejaVu Sans"/>
              </a:defRPr>
            </a:pPr>
            <a:r>
              <a:t>Sprint 1–3</a:t>
            </a:r>
          </a:p>
        </p:txBody>
      </p:sp>
      <p:sp>
        <p:nvSpPr>
          <p:cNvPr id="11" name="TextBox 10"/>
          <p:cNvSpPr txBox="1"/>
          <p:nvPr/>
        </p:nvSpPr>
        <p:spPr>
          <a:xfrm>
            <a:off x="3401568" y="4160520"/>
            <a:ext cx="2651760" cy="457200"/>
          </a:xfrm>
          <a:prstGeom prst="rect">
            <a:avLst/>
          </a:prstGeom>
          <a:noFill/>
        </p:spPr>
        <p:txBody>
          <a:bodyPr wrap="square" lIns="27432" rIns="27432" tIns="18288" bIns="18288">
            <a:spAutoFit/>
          </a:bodyPr>
          <a:lstStyle/>
          <a:p>
            <a:pPr>
              <a:spcAft>
                <a:spcPts val="900"/>
              </a:spcAft>
              <a:defRPr sz="2300" b="1">
                <a:solidFill>
                  <a:srgbClr val="FFFFFF"/>
                </a:solidFill>
                <a:latin typeface="DejaVu Sans"/>
              </a:defRPr>
            </a:pPr>
            <a:r>
              <a:t>Bảo</a:t>
            </a:r>
          </a:p>
        </p:txBody>
      </p:sp>
      <p:sp>
        <p:nvSpPr>
          <p:cNvPr id="12" name="TextBox 11"/>
          <p:cNvSpPr txBox="1"/>
          <p:nvPr/>
        </p:nvSpPr>
        <p:spPr>
          <a:xfrm>
            <a:off x="3401568" y="4754880"/>
            <a:ext cx="2606040" cy="960120"/>
          </a:xfrm>
          <a:prstGeom prst="rect">
            <a:avLst/>
          </a:prstGeom>
          <a:noFill/>
        </p:spPr>
        <p:txBody>
          <a:bodyPr wrap="square" lIns="27432" rIns="27432" tIns="18288" bIns="18288">
            <a:spAutoFit/>
          </a:bodyPr>
          <a:lstStyle/>
          <a:p>
            <a:pPr>
              <a:spcAft>
                <a:spcPts val="900"/>
              </a:spcAft>
              <a:defRPr sz="1400" b="0">
                <a:solidFill>
                  <a:srgbClr val="C6DDE9"/>
                </a:solidFill>
                <a:latin typeface="DejaVu Sans"/>
              </a:defRPr>
            </a:pPr>
            <a:r>
              <a:t>BE + báo cáo full-stack</a:t>
            </a:r>
          </a:p>
          <a:p>
            <a:pPr>
              <a:spcAft>
                <a:spcPts val="900"/>
              </a:spcAft>
              <a:defRPr sz="1400" b="0">
                <a:solidFill>
                  <a:srgbClr val="C6DDE9"/>
                </a:solidFill>
                <a:latin typeface="DejaVu Sans"/>
              </a:defRPr>
            </a:pPr>
            <a:r>
              <a:t>Nhận toàn bộ phần Nhanh ở S4</a:t>
            </a:r>
          </a:p>
        </p:txBody>
      </p:sp>
      <p:sp>
        <p:nvSpPr>
          <p:cNvPr id="13" name="TextBox 12"/>
          <p:cNvSpPr txBox="1"/>
          <p:nvPr/>
        </p:nvSpPr>
        <p:spPr>
          <a:xfrm>
            <a:off x="6208776" y="4160520"/>
            <a:ext cx="2651760" cy="457200"/>
          </a:xfrm>
          <a:prstGeom prst="rect">
            <a:avLst/>
          </a:prstGeom>
          <a:noFill/>
        </p:spPr>
        <p:txBody>
          <a:bodyPr wrap="square" lIns="27432" rIns="27432" tIns="18288" bIns="18288">
            <a:spAutoFit/>
          </a:bodyPr>
          <a:lstStyle/>
          <a:p>
            <a:pPr>
              <a:spcAft>
                <a:spcPts val="900"/>
              </a:spcAft>
              <a:defRPr sz="2300" b="1">
                <a:solidFill>
                  <a:srgbClr val="FFFFFF"/>
                </a:solidFill>
                <a:latin typeface="DejaVu Sans"/>
              </a:defRPr>
            </a:pPr>
            <a:r>
              <a:t>Khôi</a:t>
            </a:r>
          </a:p>
        </p:txBody>
      </p:sp>
      <p:sp>
        <p:nvSpPr>
          <p:cNvPr id="14" name="TextBox 13"/>
          <p:cNvSpPr txBox="1"/>
          <p:nvPr/>
        </p:nvSpPr>
        <p:spPr>
          <a:xfrm>
            <a:off x="6208776" y="4754880"/>
            <a:ext cx="2606040" cy="960120"/>
          </a:xfrm>
          <a:prstGeom prst="rect">
            <a:avLst/>
          </a:prstGeom>
          <a:noFill/>
        </p:spPr>
        <p:txBody>
          <a:bodyPr wrap="square" lIns="27432" rIns="27432" tIns="18288" bIns="18288">
            <a:spAutoFit/>
          </a:bodyPr>
          <a:lstStyle/>
          <a:p>
            <a:pPr>
              <a:spcAft>
                <a:spcPts val="900"/>
              </a:spcAft>
              <a:defRPr sz="1400" b="0">
                <a:solidFill>
                  <a:srgbClr val="C6DDE9"/>
                </a:solidFill>
                <a:latin typeface="DejaVu Sans"/>
              </a:defRPr>
            </a:pPr>
            <a:r>
              <a:t>Hồ sơ full-stack</a:t>
            </a:r>
          </a:p>
          <a:p>
            <a:pPr>
              <a:spcAft>
                <a:spcPts val="900"/>
              </a:spcAft>
              <a:defRPr sz="1400" b="0">
                <a:solidFill>
                  <a:srgbClr val="C6DDE9"/>
                </a:solidFill>
                <a:latin typeface="DejaVu Sans"/>
              </a:defRPr>
            </a:pPr>
            <a:r>
              <a:t>Luồng nhân viên và hội viên</a:t>
            </a:r>
          </a:p>
        </p:txBody>
      </p:sp>
      <p:sp>
        <p:nvSpPr>
          <p:cNvPr id="15" name="TextBox 14"/>
          <p:cNvSpPr txBox="1"/>
          <p:nvPr/>
        </p:nvSpPr>
        <p:spPr>
          <a:xfrm>
            <a:off x="9015984" y="4160520"/>
            <a:ext cx="2651760" cy="457200"/>
          </a:xfrm>
          <a:prstGeom prst="rect">
            <a:avLst/>
          </a:prstGeom>
          <a:noFill/>
        </p:spPr>
        <p:txBody>
          <a:bodyPr wrap="square" lIns="27432" rIns="27432" tIns="18288" bIns="18288">
            <a:spAutoFit/>
          </a:bodyPr>
          <a:lstStyle/>
          <a:p>
            <a:pPr>
              <a:spcAft>
                <a:spcPts val="900"/>
              </a:spcAft>
              <a:defRPr sz="2300" b="1">
                <a:solidFill>
                  <a:srgbClr val="FFFFFF"/>
                </a:solidFill>
                <a:latin typeface="DejaVu Sans"/>
              </a:defRPr>
            </a:pPr>
            <a:r>
              <a:t>Khải</a:t>
            </a:r>
          </a:p>
        </p:txBody>
      </p:sp>
      <p:sp>
        <p:nvSpPr>
          <p:cNvPr id="16" name="TextBox 15"/>
          <p:cNvSpPr txBox="1"/>
          <p:nvPr/>
        </p:nvSpPr>
        <p:spPr>
          <a:xfrm>
            <a:off x="9015984" y="4754880"/>
            <a:ext cx="2606040" cy="960120"/>
          </a:xfrm>
          <a:prstGeom prst="rect">
            <a:avLst/>
          </a:prstGeom>
          <a:noFill/>
        </p:spPr>
        <p:txBody>
          <a:bodyPr wrap="square" lIns="27432" rIns="27432" tIns="18288" bIns="18288">
            <a:spAutoFit/>
          </a:bodyPr>
          <a:lstStyle/>
          <a:p>
            <a:pPr>
              <a:spcAft>
                <a:spcPts val="900"/>
              </a:spcAft>
              <a:defRPr sz="1400" b="0">
                <a:solidFill>
                  <a:srgbClr val="C6DDE9"/>
                </a:solidFill>
                <a:latin typeface="DejaVu Sans"/>
              </a:defRPr>
            </a:pPr>
            <a:r>
              <a:t>FE tổng kết và đánh giá</a:t>
            </a:r>
          </a:p>
          <a:p>
            <a:pPr>
              <a:spcAft>
                <a:spcPts val="900"/>
              </a:spcAft>
              <a:defRPr sz="1400" b="0">
                <a:solidFill>
                  <a:srgbClr val="C6DDE9"/>
                </a:solidFill>
                <a:latin typeface="DejaVu Sans"/>
              </a:defRPr>
            </a:pPr>
            <a:r>
              <a:t>Kiểm thử, trải nghiệm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228600"/>
            <a:ext cx="10058400" cy="320040"/>
          </a:xfrm>
          <a:prstGeom prst="rect">
            <a:avLst/>
          </a:prstGeom>
          <a:noFill/>
        </p:spPr>
        <p:txBody>
          <a:bodyPr wrap="square" lIns="27432" rIns="27432" tIns="18288" bIns="18288">
            <a:spAutoFit/>
          </a:bodyPr>
          <a:lstStyle/>
          <a:p>
            <a:pPr>
              <a:spcAft>
                <a:spcPts val="900"/>
              </a:spcAft>
              <a:defRPr sz="1200" b="1">
                <a:solidFill>
                  <a:srgbClr val="167D8D"/>
                </a:solidFill>
                <a:latin typeface="DejaVu Sans"/>
              </a:defRPr>
            </a:pPr>
            <a:r>
              <a:t>02  WHY / CONTEXT</a:t>
            </a:r>
          </a:p>
        </p:txBody>
      </p:sp>
      <p:sp>
        <p:nvSpPr>
          <p:cNvPr id="3" name="TextBox 2"/>
          <p:cNvSpPr txBox="1"/>
          <p:nvPr/>
        </p:nvSpPr>
        <p:spPr>
          <a:xfrm>
            <a:off x="502920" y="731520"/>
            <a:ext cx="11064240" cy="1097280"/>
          </a:xfrm>
          <a:prstGeom prst="rect">
            <a:avLst/>
          </a:prstGeom>
          <a:noFill/>
        </p:spPr>
        <p:txBody>
          <a:bodyPr wrap="square" lIns="27432" rIns="27432" tIns="18288" bIns="18288">
            <a:spAutoFit/>
          </a:bodyPr>
          <a:lstStyle/>
          <a:p>
            <a:pPr>
              <a:spcAft>
                <a:spcPts val="900"/>
              </a:spcAft>
              <a:defRPr sz="3200" b="1">
                <a:solidFill>
                  <a:srgbClr val="163B58"/>
                </a:solidFill>
                <a:latin typeface="DejaVu Sans"/>
              </a:defRPr>
            </a:pPr>
            <a:r>
              <a:t>Một thay đổi vận hành chạm nhiều bộ phận</a:t>
            </a:r>
          </a:p>
        </p:txBody>
      </p:sp>
      <p:sp>
        <p:nvSpPr>
          <p:cNvPr id="4" name="TextBox 3"/>
          <p:cNvSpPr txBox="1"/>
          <p:nvPr/>
        </p:nvSpPr>
        <p:spPr>
          <a:xfrm>
            <a:off x="502920" y="6473952"/>
            <a:ext cx="10058400" cy="201168"/>
          </a:xfrm>
          <a:prstGeom prst="rect">
            <a:avLst/>
          </a:prstGeom>
          <a:noFill/>
        </p:spPr>
        <p:txBody>
          <a:bodyPr wrap="square" lIns="27432" rIns="27432" tIns="18288" bIns="18288">
            <a:spAutoFit/>
          </a:bodyPr>
          <a:lstStyle/>
          <a:p>
            <a:pPr>
              <a:spcAft>
                <a:spcPts val="900"/>
              </a:spcAft>
              <a:defRPr sz="800" b="0">
                <a:solidFill>
                  <a:srgbClr val="526A7C"/>
                </a:solidFill>
                <a:latin typeface="DejaVu Sans"/>
              </a:defRPr>
            </a:pPr>
            <a:r>
              <a:t>SPORTS CENTER  /  SWP391 FA26  /  NHÓM NHANH · BẢO · KHÔI · KHẢI</a:t>
            </a:r>
          </a:p>
        </p:txBody>
      </p:sp>
      <p:sp>
        <p:nvSpPr>
          <p:cNvPr id="5" name="TextBox 4"/>
          <p:cNvSpPr txBox="1"/>
          <p:nvPr/>
        </p:nvSpPr>
        <p:spPr>
          <a:xfrm>
            <a:off x="11064240" y="6419088"/>
            <a:ext cx="548640" cy="320040"/>
          </a:xfrm>
          <a:prstGeom prst="rect">
            <a:avLst/>
          </a:prstGeom>
          <a:noFill/>
        </p:spPr>
        <p:txBody>
          <a:bodyPr wrap="square" lIns="27432" rIns="27432" tIns="18288" bIns="18288">
            <a:spAutoFit/>
          </a:bodyPr>
          <a:lstStyle/>
          <a:p>
            <a:pPr>
              <a:spcAft>
                <a:spcPts val="900"/>
              </a:spcAft>
              <a:defRPr sz="1000" b="0">
                <a:solidFill>
                  <a:srgbClr val="526A7C"/>
                </a:solidFill>
                <a:latin typeface="DejaVu Sans"/>
              </a:defRPr>
            </a:pPr>
            <a:r>
              <a:t>02 / 05</a:t>
            </a:r>
          </a:p>
        </p:txBody>
      </p:sp>
      <p:sp>
        <p:nvSpPr>
          <p:cNvPr id="6" name="Rounded Rectangle 5"/>
          <p:cNvSpPr/>
          <p:nvPr/>
        </p:nvSpPr>
        <p:spPr>
          <a:xfrm>
            <a:off x="548640" y="1920240"/>
            <a:ext cx="356616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84832"/>
            <a:ext cx="3200400" cy="320040"/>
          </a:xfrm>
          <a:prstGeom prst="rect">
            <a:avLst/>
          </a:prstGeom>
          <a:noFill/>
        </p:spPr>
        <p:txBody>
          <a:bodyPr wrap="square" lIns="27432" rIns="27432" tIns="18288" bIns="18288">
            <a:spAutoFit/>
          </a:bodyPr>
          <a:lstStyle/>
          <a:p>
            <a:pPr>
              <a:spcAft>
                <a:spcPts val="900"/>
              </a:spcAft>
              <a:defRPr sz="1200" b="1">
                <a:solidFill>
                  <a:srgbClr val="176AAD"/>
                </a:solidFill>
                <a:latin typeface="DejaVu Sans"/>
              </a:defRPr>
            </a:pPr>
            <a:r>
              <a:t>01  LỊCH VÀ CHỖ</a:t>
            </a:r>
          </a:p>
        </p:txBody>
      </p:sp>
      <p:sp>
        <p:nvSpPr>
          <p:cNvPr id="8" name="TextBox 7"/>
          <p:cNvSpPr txBox="1"/>
          <p:nvPr/>
        </p:nvSpPr>
        <p:spPr>
          <a:xfrm>
            <a:off x="731520" y="2560320"/>
            <a:ext cx="3200400" cy="731520"/>
          </a:xfrm>
          <a:prstGeom prst="rect">
            <a:avLst/>
          </a:prstGeom>
          <a:noFill/>
        </p:spPr>
        <p:txBody>
          <a:bodyPr wrap="square" lIns="27432" rIns="27432" tIns="18288" bIns="18288">
            <a:spAutoFit/>
          </a:bodyPr>
          <a:lstStyle/>
          <a:p>
            <a:pPr>
              <a:spcAft>
                <a:spcPts val="900"/>
              </a:spcAft>
              <a:defRPr sz="2300" b="1">
                <a:solidFill>
                  <a:srgbClr val="163B58"/>
                </a:solidFill>
                <a:latin typeface="DejaVu Sans"/>
              </a:defRPr>
            </a:pPr>
            <a:r>
              <a:t>Đăng ký trùng?</a:t>
            </a:r>
          </a:p>
        </p:txBody>
      </p:sp>
      <p:sp>
        <p:nvSpPr>
          <p:cNvPr id="9" name="TextBox 8"/>
          <p:cNvSpPr txBox="1"/>
          <p:nvPr/>
        </p:nvSpPr>
        <p:spPr>
          <a:xfrm>
            <a:off x="731520" y="3429000"/>
            <a:ext cx="3200400" cy="19659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Lớp, HLV và phòng có thể xung đột.</a:t>
            </a:r>
          </a:p>
          <a:p>
            <a:pPr>
              <a:spcAft>
                <a:spcPts val="900"/>
              </a:spcAft>
              <a:defRPr sz="1700" b="0">
                <a:solidFill>
                  <a:srgbClr val="526A7C"/>
                </a:solidFill>
                <a:latin typeface="DejaVu Sans"/>
              </a:defRPr>
            </a:pPr>
            <a:r>
              <a:t>Giữ chỗ phải nhất quán khi nhiều người cùng đăng ký.</a:t>
            </a:r>
          </a:p>
        </p:txBody>
      </p:sp>
      <p:sp>
        <p:nvSpPr>
          <p:cNvPr id="10" name="Rounded Rectangle 9"/>
          <p:cNvSpPr/>
          <p:nvPr/>
        </p:nvSpPr>
        <p:spPr>
          <a:xfrm>
            <a:off x="4315968" y="1920240"/>
            <a:ext cx="356616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2084832"/>
            <a:ext cx="3200400" cy="320040"/>
          </a:xfrm>
          <a:prstGeom prst="rect">
            <a:avLst/>
          </a:prstGeom>
          <a:noFill/>
        </p:spPr>
        <p:txBody>
          <a:bodyPr wrap="square" lIns="27432" rIns="27432" tIns="18288" bIns="18288">
            <a:spAutoFit/>
          </a:bodyPr>
          <a:lstStyle/>
          <a:p>
            <a:pPr>
              <a:spcAft>
                <a:spcPts val="900"/>
              </a:spcAft>
              <a:defRPr sz="1200" b="1">
                <a:solidFill>
                  <a:srgbClr val="176AAD"/>
                </a:solidFill>
                <a:latin typeface="DejaVu Sans"/>
              </a:defRPr>
            </a:pPr>
            <a:r>
              <a:t>02  TIỀN VÀ QUYỀN LỢI</a:t>
            </a:r>
          </a:p>
        </p:txBody>
      </p:sp>
      <p:sp>
        <p:nvSpPr>
          <p:cNvPr id="12" name="TextBox 11"/>
          <p:cNvSpPr txBox="1"/>
          <p:nvPr/>
        </p:nvSpPr>
        <p:spPr>
          <a:xfrm>
            <a:off x="4498848" y="2560320"/>
            <a:ext cx="3200400" cy="731520"/>
          </a:xfrm>
          <a:prstGeom prst="rect">
            <a:avLst/>
          </a:prstGeom>
          <a:noFill/>
        </p:spPr>
        <p:txBody>
          <a:bodyPr wrap="square" lIns="27432" rIns="27432" tIns="18288" bIns="18288">
            <a:spAutoFit/>
          </a:bodyPr>
          <a:lstStyle/>
          <a:p>
            <a:pPr>
              <a:spcAft>
                <a:spcPts val="900"/>
              </a:spcAft>
              <a:defRPr sz="2300" b="1">
                <a:solidFill>
                  <a:srgbClr val="163B58"/>
                </a:solidFill>
                <a:latin typeface="DejaVu Sans"/>
              </a:defRPr>
            </a:pPr>
            <a:r>
              <a:t>Tiền về chưa khớp?</a:t>
            </a:r>
          </a:p>
        </p:txBody>
      </p:sp>
      <p:sp>
        <p:nvSpPr>
          <p:cNvPr id="13" name="TextBox 12"/>
          <p:cNvSpPr txBox="1"/>
          <p:nvPr/>
        </p:nvSpPr>
        <p:spPr>
          <a:xfrm>
            <a:off x="4498848" y="3429000"/>
            <a:ext cx="3200400" cy="19659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Thiếu, thừa, sai mã và chuyển lặp.</a:t>
            </a:r>
          </a:p>
          <a:p>
            <a:pPr>
              <a:spcAft>
                <a:spcPts val="900"/>
              </a:spcAft>
              <a:defRPr sz="1700" b="0">
                <a:solidFill>
                  <a:srgbClr val="526A7C"/>
                </a:solidFill>
                <a:latin typeface="DejaVu Sans"/>
              </a:defRPr>
            </a:pPr>
            <a:r>
              <a:t>Cần biết khi nào được kích hoạt gói hoặc chỗ học.</a:t>
            </a:r>
          </a:p>
        </p:txBody>
      </p:sp>
      <p:sp>
        <p:nvSpPr>
          <p:cNvPr id="14" name="Rounded Rectangle 13"/>
          <p:cNvSpPr/>
          <p:nvPr/>
        </p:nvSpPr>
        <p:spPr>
          <a:xfrm>
            <a:off x="8083296" y="1920240"/>
            <a:ext cx="356616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5" y="2084832"/>
            <a:ext cx="3200400" cy="320040"/>
          </a:xfrm>
          <a:prstGeom prst="rect">
            <a:avLst/>
          </a:prstGeom>
          <a:noFill/>
        </p:spPr>
        <p:txBody>
          <a:bodyPr wrap="square" lIns="27432" rIns="27432" tIns="18288" bIns="18288">
            <a:spAutoFit/>
          </a:bodyPr>
          <a:lstStyle/>
          <a:p>
            <a:pPr>
              <a:spcAft>
                <a:spcPts val="900"/>
              </a:spcAft>
              <a:defRPr sz="1200" b="1">
                <a:solidFill>
                  <a:srgbClr val="176AAD"/>
                </a:solidFill>
                <a:latin typeface="DejaVu Sans"/>
              </a:defRPr>
            </a:pPr>
            <a:r>
              <a:t>03  KẾT QUẢ VÀ LỊCH SỬ</a:t>
            </a:r>
          </a:p>
        </p:txBody>
      </p:sp>
      <p:sp>
        <p:nvSpPr>
          <p:cNvPr id="16" name="TextBox 15"/>
          <p:cNvSpPr txBox="1"/>
          <p:nvPr/>
        </p:nvSpPr>
        <p:spPr>
          <a:xfrm>
            <a:off x="8266175" y="2560320"/>
            <a:ext cx="3200400" cy="731520"/>
          </a:xfrm>
          <a:prstGeom prst="rect">
            <a:avLst/>
          </a:prstGeom>
          <a:noFill/>
        </p:spPr>
        <p:txBody>
          <a:bodyPr wrap="square" lIns="27432" rIns="27432" tIns="18288" bIns="18288">
            <a:spAutoFit/>
          </a:bodyPr>
          <a:lstStyle/>
          <a:p>
            <a:pPr>
              <a:spcAft>
                <a:spcPts val="900"/>
              </a:spcAft>
              <a:defRPr sz="2300" b="1">
                <a:solidFill>
                  <a:srgbClr val="163B58"/>
                </a:solidFill>
                <a:latin typeface="DejaVu Sans"/>
              </a:defRPr>
            </a:pPr>
            <a:r>
              <a:t>Ai đổi, đổi lúc nào?</a:t>
            </a:r>
          </a:p>
        </p:txBody>
      </p:sp>
      <p:sp>
        <p:nvSpPr>
          <p:cNvPr id="17" name="TextBox 16"/>
          <p:cNvSpPr txBox="1"/>
          <p:nvPr/>
        </p:nvSpPr>
        <p:spPr>
          <a:xfrm>
            <a:off x="8266175" y="3429000"/>
            <a:ext cx="3200400" cy="19659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Hồ sơ, điểm danh và kết quả cần đúng phạm vi.</a:t>
            </a:r>
          </a:p>
          <a:p>
            <a:pPr>
              <a:spcAft>
                <a:spcPts val="900"/>
              </a:spcAft>
              <a:defRPr sz="1700" b="0">
                <a:solidFill>
                  <a:srgbClr val="526A7C"/>
                </a:solidFill>
                <a:latin typeface="DejaVu Sans"/>
              </a:defRPr>
            </a:pPr>
            <a:r>
              <a:t>Báo cáo phải giải thích được thu và hoàn.</a:t>
            </a:r>
          </a:p>
        </p:txBody>
      </p:sp>
      <p:sp>
        <p:nvSpPr>
          <p:cNvPr id="18" name="TextBox 17"/>
          <p:cNvSpPr txBox="1"/>
          <p:nvPr/>
        </p:nvSpPr>
        <p:spPr>
          <a:xfrm>
            <a:off x="594360" y="5742432"/>
            <a:ext cx="10972800" cy="457200"/>
          </a:xfrm>
          <a:prstGeom prst="rect">
            <a:avLst/>
          </a:prstGeom>
          <a:noFill/>
        </p:spPr>
        <p:txBody>
          <a:bodyPr wrap="square" lIns="27432" rIns="27432" tIns="18288" bIns="18288">
            <a:spAutoFit/>
          </a:bodyPr>
          <a:lstStyle/>
          <a:p>
            <a:pPr>
              <a:spcAft>
                <a:spcPts val="900"/>
              </a:spcAft>
              <a:defRPr sz="1300" b="0">
                <a:solidFill>
                  <a:srgbClr val="526A7C"/>
                </a:solidFill>
                <a:latin typeface="DejaVu Sans"/>
              </a:defRPr>
            </a:pPr>
            <a:r>
              <a:t>Bối cảnh nghiệp vụ của đồ án; dữ liệu demo là dữ liệu giả, không phải kết quả khảo sát thực địa.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228600"/>
            <a:ext cx="10058400" cy="320040"/>
          </a:xfrm>
          <a:prstGeom prst="rect">
            <a:avLst/>
          </a:prstGeom>
          <a:noFill/>
        </p:spPr>
        <p:txBody>
          <a:bodyPr wrap="square" lIns="27432" rIns="27432" tIns="18288" bIns="18288">
            <a:spAutoFit/>
          </a:bodyPr>
          <a:lstStyle/>
          <a:p>
            <a:pPr>
              <a:spcAft>
                <a:spcPts val="900"/>
              </a:spcAft>
              <a:defRPr sz="1200" b="1">
                <a:solidFill>
                  <a:srgbClr val="167D8D"/>
                </a:solidFill>
                <a:latin typeface="DejaVu Sans"/>
              </a:defRPr>
            </a:pPr>
            <a:r>
              <a:t>03  WHAT + WHO</a:t>
            </a:r>
          </a:p>
        </p:txBody>
      </p:sp>
      <p:sp>
        <p:nvSpPr>
          <p:cNvPr id="3" name="TextBox 2"/>
          <p:cNvSpPr txBox="1"/>
          <p:nvPr/>
        </p:nvSpPr>
        <p:spPr>
          <a:xfrm>
            <a:off x="502920" y="731520"/>
            <a:ext cx="11064240" cy="1097280"/>
          </a:xfrm>
          <a:prstGeom prst="rect">
            <a:avLst/>
          </a:prstGeom>
          <a:noFill/>
        </p:spPr>
        <p:txBody>
          <a:bodyPr wrap="square" lIns="27432" rIns="27432" tIns="18288" bIns="18288">
            <a:spAutoFit/>
          </a:bodyPr>
          <a:lstStyle/>
          <a:p>
            <a:pPr>
              <a:spcAft>
                <a:spcPts val="900"/>
              </a:spcAft>
              <a:defRPr sz="3200" b="1">
                <a:solidFill>
                  <a:srgbClr val="163B58"/>
                </a:solidFill>
                <a:latin typeface="DejaVu Sans"/>
              </a:defRPr>
            </a:pPr>
            <a:r>
              <a:t>Một luồng thống nhất, bốn phạm vi trách nhiệm</a:t>
            </a:r>
          </a:p>
        </p:txBody>
      </p:sp>
      <p:sp>
        <p:nvSpPr>
          <p:cNvPr id="4" name="TextBox 3"/>
          <p:cNvSpPr txBox="1"/>
          <p:nvPr/>
        </p:nvSpPr>
        <p:spPr>
          <a:xfrm>
            <a:off x="502920" y="6473952"/>
            <a:ext cx="10058400" cy="201168"/>
          </a:xfrm>
          <a:prstGeom prst="rect">
            <a:avLst/>
          </a:prstGeom>
          <a:noFill/>
        </p:spPr>
        <p:txBody>
          <a:bodyPr wrap="square" lIns="27432" rIns="27432" tIns="18288" bIns="18288">
            <a:spAutoFit/>
          </a:bodyPr>
          <a:lstStyle/>
          <a:p>
            <a:pPr>
              <a:spcAft>
                <a:spcPts val="900"/>
              </a:spcAft>
              <a:defRPr sz="800" b="0">
                <a:solidFill>
                  <a:srgbClr val="526A7C"/>
                </a:solidFill>
                <a:latin typeface="DejaVu Sans"/>
              </a:defRPr>
            </a:pPr>
            <a:r>
              <a:t>SPORTS CENTER  /  SWP391 FA26  /  NHÓM NHANH · BẢO · KHÔI · KHẢI</a:t>
            </a:r>
          </a:p>
        </p:txBody>
      </p:sp>
      <p:sp>
        <p:nvSpPr>
          <p:cNvPr id="5" name="TextBox 4"/>
          <p:cNvSpPr txBox="1"/>
          <p:nvPr/>
        </p:nvSpPr>
        <p:spPr>
          <a:xfrm>
            <a:off x="11064240" y="6419088"/>
            <a:ext cx="548640" cy="320040"/>
          </a:xfrm>
          <a:prstGeom prst="rect">
            <a:avLst/>
          </a:prstGeom>
          <a:noFill/>
        </p:spPr>
        <p:txBody>
          <a:bodyPr wrap="square" lIns="27432" rIns="27432" tIns="18288" bIns="18288">
            <a:spAutoFit/>
          </a:bodyPr>
          <a:lstStyle/>
          <a:p>
            <a:pPr>
              <a:spcAft>
                <a:spcPts val="900"/>
              </a:spcAft>
              <a:defRPr sz="1000" b="0">
                <a:solidFill>
                  <a:srgbClr val="526A7C"/>
                </a:solidFill>
                <a:latin typeface="DejaVu Sans"/>
              </a:defRPr>
            </a:pPr>
            <a:r>
              <a:t>03 / 05</a:t>
            </a:r>
          </a:p>
        </p:txBody>
      </p:sp>
      <p:sp>
        <p:nvSpPr>
          <p:cNvPr id="6" name="Rounded Rectangle 5"/>
          <p:cNvSpPr/>
          <p:nvPr/>
        </p:nvSpPr>
        <p:spPr>
          <a:xfrm>
            <a:off x="548640" y="1965960"/>
            <a:ext cx="2057400" cy="658368"/>
          </a:xfrm>
          <a:prstGeom prst="roundRect">
            <a:avLst/>
          </a:prstGeom>
          <a:solidFill>
            <a:srgbClr val="176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148840"/>
            <a:ext cx="1920240" cy="320040"/>
          </a:xfrm>
          <a:prstGeom prst="rect">
            <a:avLst/>
          </a:prstGeom>
          <a:noFill/>
        </p:spPr>
        <p:txBody>
          <a:bodyPr wrap="square" lIns="27432" rIns="27432" tIns="18288" bIns="18288">
            <a:spAutoFit/>
          </a:bodyPr>
          <a:lstStyle/>
          <a:p>
            <a:pPr>
              <a:spcAft>
                <a:spcPts val="900"/>
              </a:spcAft>
              <a:defRPr sz="1300" b="1">
                <a:solidFill>
                  <a:srgbClr val="FFFFFF"/>
                </a:solidFill>
                <a:latin typeface="DejaVu Sans"/>
              </a:defRPr>
            </a:pPr>
            <a:r>
              <a:t>Chọn gói / khóa</a:t>
            </a:r>
          </a:p>
        </p:txBody>
      </p:sp>
      <p:sp>
        <p:nvSpPr>
          <p:cNvPr id="8" name="TextBox 7"/>
          <p:cNvSpPr txBox="1"/>
          <p:nvPr/>
        </p:nvSpPr>
        <p:spPr>
          <a:xfrm>
            <a:off x="2633472" y="2103120"/>
            <a:ext cx="228600" cy="3657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a:t>
            </a:r>
          </a:p>
        </p:txBody>
      </p:sp>
      <p:sp>
        <p:nvSpPr>
          <p:cNvPr id="9" name="Rounded Rectangle 8"/>
          <p:cNvSpPr/>
          <p:nvPr/>
        </p:nvSpPr>
        <p:spPr>
          <a:xfrm>
            <a:off x="2834640" y="1965960"/>
            <a:ext cx="2057400" cy="658368"/>
          </a:xfrm>
          <a:prstGeom prst="roundRect">
            <a:avLst/>
          </a:prstGeom>
          <a:solidFill>
            <a:srgbClr val="176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48840"/>
            <a:ext cx="1920240" cy="320040"/>
          </a:xfrm>
          <a:prstGeom prst="rect">
            <a:avLst/>
          </a:prstGeom>
          <a:noFill/>
        </p:spPr>
        <p:txBody>
          <a:bodyPr wrap="square" lIns="27432" rIns="27432" tIns="18288" bIns="18288">
            <a:spAutoFit/>
          </a:bodyPr>
          <a:lstStyle/>
          <a:p>
            <a:pPr>
              <a:spcAft>
                <a:spcPts val="900"/>
              </a:spcAft>
              <a:defRPr sz="1300" b="1">
                <a:solidFill>
                  <a:srgbClr val="FFFFFF"/>
                </a:solidFill>
                <a:latin typeface="DejaVu Sans"/>
              </a:defRPr>
            </a:pPr>
            <a:r>
              <a:t>Giữ chỗ + hóa đơn</a:t>
            </a:r>
          </a:p>
        </p:txBody>
      </p:sp>
      <p:sp>
        <p:nvSpPr>
          <p:cNvPr id="11" name="TextBox 10"/>
          <p:cNvSpPr txBox="1"/>
          <p:nvPr/>
        </p:nvSpPr>
        <p:spPr>
          <a:xfrm>
            <a:off x="4919472" y="2103120"/>
            <a:ext cx="228600" cy="3657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a:t>
            </a:r>
          </a:p>
        </p:txBody>
      </p:sp>
      <p:sp>
        <p:nvSpPr>
          <p:cNvPr id="12" name="Rounded Rectangle 11"/>
          <p:cNvSpPr/>
          <p:nvPr/>
        </p:nvSpPr>
        <p:spPr>
          <a:xfrm>
            <a:off x="5120640" y="1965960"/>
            <a:ext cx="2057400" cy="658368"/>
          </a:xfrm>
          <a:prstGeom prst="round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148840"/>
            <a:ext cx="1920240" cy="320040"/>
          </a:xfrm>
          <a:prstGeom prst="rect">
            <a:avLst/>
          </a:prstGeom>
          <a:noFill/>
        </p:spPr>
        <p:txBody>
          <a:bodyPr wrap="square" lIns="27432" rIns="27432" tIns="18288" bIns="18288">
            <a:spAutoFit/>
          </a:bodyPr>
          <a:lstStyle/>
          <a:p>
            <a:pPr>
              <a:spcAft>
                <a:spcPts val="900"/>
              </a:spcAft>
              <a:defRPr sz="1300" b="1">
                <a:solidFill>
                  <a:srgbClr val="FFFFFF"/>
                </a:solidFill>
                <a:latin typeface="DejaVu Sans"/>
              </a:defRPr>
            </a:pPr>
            <a:r>
              <a:t>Thu tiền hợp lệ</a:t>
            </a:r>
          </a:p>
        </p:txBody>
      </p:sp>
      <p:sp>
        <p:nvSpPr>
          <p:cNvPr id="14" name="TextBox 13"/>
          <p:cNvSpPr txBox="1"/>
          <p:nvPr/>
        </p:nvSpPr>
        <p:spPr>
          <a:xfrm>
            <a:off x="7205471" y="2103120"/>
            <a:ext cx="228600" cy="3657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a:t>
            </a:r>
          </a:p>
        </p:txBody>
      </p:sp>
      <p:sp>
        <p:nvSpPr>
          <p:cNvPr id="15" name="Rounded Rectangle 14"/>
          <p:cNvSpPr/>
          <p:nvPr/>
        </p:nvSpPr>
        <p:spPr>
          <a:xfrm>
            <a:off x="7406640" y="1965960"/>
            <a:ext cx="2057400" cy="658368"/>
          </a:xfrm>
          <a:prstGeom prst="roundRect">
            <a:avLst/>
          </a:prstGeom>
          <a:solidFill>
            <a:srgbClr val="176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9792" y="2148840"/>
            <a:ext cx="1920240" cy="320040"/>
          </a:xfrm>
          <a:prstGeom prst="rect">
            <a:avLst/>
          </a:prstGeom>
          <a:noFill/>
        </p:spPr>
        <p:txBody>
          <a:bodyPr wrap="square" lIns="27432" rIns="27432" tIns="18288" bIns="18288">
            <a:spAutoFit/>
          </a:bodyPr>
          <a:lstStyle/>
          <a:p>
            <a:pPr>
              <a:spcAft>
                <a:spcPts val="900"/>
              </a:spcAft>
              <a:defRPr sz="1300" b="1">
                <a:solidFill>
                  <a:srgbClr val="FFFFFF"/>
                </a:solidFill>
                <a:latin typeface="DejaVu Sans"/>
              </a:defRPr>
            </a:pPr>
            <a:r>
              <a:t>Học + tổng kết</a:t>
            </a:r>
          </a:p>
        </p:txBody>
      </p:sp>
      <p:sp>
        <p:nvSpPr>
          <p:cNvPr id="17" name="TextBox 16"/>
          <p:cNvSpPr txBox="1"/>
          <p:nvPr/>
        </p:nvSpPr>
        <p:spPr>
          <a:xfrm>
            <a:off x="9491472" y="2103120"/>
            <a:ext cx="228600" cy="365760"/>
          </a:xfrm>
          <a:prstGeom prst="rect">
            <a:avLst/>
          </a:prstGeom>
          <a:noFill/>
        </p:spPr>
        <p:txBody>
          <a:bodyPr wrap="square" lIns="27432" rIns="27432" tIns="18288" bIns="18288">
            <a:spAutoFit/>
          </a:bodyPr>
          <a:lstStyle/>
          <a:p>
            <a:pPr>
              <a:spcAft>
                <a:spcPts val="900"/>
              </a:spcAft>
              <a:defRPr sz="1700" b="0">
                <a:solidFill>
                  <a:srgbClr val="526A7C"/>
                </a:solidFill>
                <a:latin typeface="DejaVu Sans"/>
              </a:defRPr>
            </a:pPr>
            <a:r>
              <a:t>→</a:t>
            </a:r>
          </a:p>
        </p:txBody>
      </p:sp>
      <p:sp>
        <p:nvSpPr>
          <p:cNvPr id="18" name="Rounded Rectangle 17"/>
          <p:cNvSpPr/>
          <p:nvPr/>
        </p:nvSpPr>
        <p:spPr>
          <a:xfrm>
            <a:off x="9692640" y="1965960"/>
            <a:ext cx="2057400" cy="658368"/>
          </a:xfrm>
          <a:prstGeom prst="roundRect">
            <a:avLst/>
          </a:prstGeom>
          <a:solidFill>
            <a:srgbClr val="176A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2148840"/>
            <a:ext cx="1920240" cy="320040"/>
          </a:xfrm>
          <a:prstGeom prst="rect">
            <a:avLst/>
          </a:prstGeom>
          <a:noFill/>
        </p:spPr>
        <p:txBody>
          <a:bodyPr wrap="square" lIns="27432" rIns="27432" tIns="18288" bIns="18288">
            <a:spAutoFit/>
          </a:bodyPr>
          <a:lstStyle/>
          <a:p>
            <a:pPr>
              <a:spcAft>
                <a:spcPts val="900"/>
              </a:spcAft>
              <a:defRPr sz="1300" b="1">
                <a:solidFill>
                  <a:srgbClr val="FFFFFF"/>
                </a:solidFill>
                <a:latin typeface="DejaVu Sans"/>
              </a:defRPr>
            </a:pPr>
            <a:r>
              <a:t>Báo cáo + audit</a:t>
            </a:r>
          </a:p>
        </p:txBody>
      </p:sp>
      <p:sp>
        <p:nvSpPr>
          <p:cNvPr id="20" name="Rounded Rectangle 19"/>
          <p:cNvSpPr/>
          <p:nvPr/>
        </p:nvSpPr>
        <p:spPr>
          <a:xfrm>
            <a:off x="548640" y="3154680"/>
            <a:ext cx="26517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383280"/>
            <a:ext cx="2414016" cy="457200"/>
          </a:xfrm>
          <a:prstGeom prst="rect">
            <a:avLst/>
          </a:prstGeom>
          <a:noFill/>
        </p:spPr>
        <p:txBody>
          <a:bodyPr wrap="square" lIns="27432" rIns="27432" tIns="18288" bIns="18288">
            <a:spAutoFit/>
          </a:bodyPr>
          <a:lstStyle/>
          <a:p>
            <a:pPr>
              <a:spcAft>
                <a:spcPts val="900"/>
              </a:spcAft>
              <a:defRPr sz="1400" b="1">
                <a:solidFill>
                  <a:srgbClr val="167D8D"/>
                </a:solidFill>
                <a:latin typeface="DejaVu Sans"/>
              </a:defRPr>
            </a:pPr>
            <a:r>
              <a:t>HỘI VIÊN</a:t>
            </a:r>
          </a:p>
        </p:txBody>
      </p:sp>
      <p:sp>
        <p:nvSpPr>
          <p:cNvPr id="22" name="TextBox 21"/>
          <p:cNvSpPr txBox="1"/>
          <p:nvPr/>
        </p:nvSpPr>
        <p:spPr>
          <a:xfrm>
            <a:off x="667512" y="3950208"/>
            <a:ext cx="2414016" cy="731520"/>
          </a:xfrm>
          <a:prstGeom prst="rect">
            <a:avLst/>
          </a:prstGeom>
          <a:noFill/>
        </p:spPr>
        <p:txBody>
          <a:bodyPr wrap="square" lIns="27432" rIns="27432" tIns="18288" bIns="18288">
            <a:spAutoFit/>
          </a:bodyPr>
          <a:lstStyle/>
          <a:p>
            <a:pPr>
              <a:spcAft>
                <a:spcPts val="900"/>
              </a:spcAft>
              <a:defRPr sz="1400" b="0">
                <a:solidFill>
                  <a:srgbClr val="526A7C"/>
                </a:solidFill>
                <a:latin typeface="DejaVu Sans"/>
              </a:defRPr>
            </a:pPr>
            <a:r>
              <a:t>Mua, đăng ký, kết quả</a:t>
            </a:r>
          </a:p>
          <a:p>
            <a:pPr>
              <a:spcAft>
                <a:spcPts val="900"/>
              </a:spcAft>
              <a:defRPr sz="1400" b="0">
                <a:solidFill>
                  <a:srgbClr val="526A7C"/>
                </a:solidFill>
                <a:latin typeface="DejaVu Sans"/>
              </a:defRPr>
            </a:pPr>
            <a:r>
              <a:t>Hồ sơ và đánh giá</a:t>
            </a:r>
          </a:p>
        </p:txBody>
      </p:sp>
      <p:sp>
        <p:nvSpPr>
          <p:cNvPr id="23" name="Rounded Rectangle 22"/>
          <p:cNvSpPr/>
          <p:nvPr/>
        </p:nvSpPr>
        <p:spPr>
          <a:xfrm>
            <a:off x="3383280" y="3154680"/>
            <a:ext cx="26517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2152" y="3383280"/>
            <a:ext cx="2414016" cy="457200"/>
          </a:xfrm>
          <a:prstGeom prst="rect">
            <a:avLst/>
          </a:prstGeom>
          <a:noFill/>
        </p:spPr>
        <p:txBody>
          <a:bodyPr wrap="square" lIns="27432" rIns="27432" tIns="18288" bIns="18288">
            <a:spAutoFit/>
          </a:bodyPr>
          <a:lstStyle/>
          <a:p>
            <a:pPr>
              <a:spcAft>
                <a:spcPts val="900"/>
              </a:spcAft>
              <a:defRPr sz="1400" b="1">
                <a:solidFill>
                  <a:srgbClr val="167D8D"/>
                </a:solidFill>
                <a:latin typeface="DejaVu Sans"/>
              </a:defRPr>
            </a:pPr>
            <a:r>
              <a:t>LỄ TÂN</a:t>
            </a:r>
          </a:p>
        </p:txBody>
      </p:sp>
      <p:sp>
        <p:nvSpPr>
          <p:cNvPr id="25" name="TextBox 24"/>
          <p:cNvSpPr txBox="1"/>
          <p:nvPr/>
        </p:nvSpPr>
        <p:spPr>
          <a:xfrm>
            <a:off x="3502152" y="3950208"/>
            <a:ext cx="2414016" cy="731520"/>
          </a:xfrm>
          <a:prstGeom prst="rect">
            <a:avLst/>
          </a:prstGeom>
          <a:noFill/>
        </p:spPr>
        <p:txBody>
          <a:bodyPr wrap="square" lIns="27432" rIns="27432" tIns="18288" bIns="18288">
            <a:spAutoFit/>
          </a:bodyPr>
          <a:lstStyle/>
          <a:p>
            <a:pPr>
              <a:spcAft>
                <a:spcPts val="900"/>
              </a:spcAft>
              <a:defRPr sz="1400" b="0">
                <a:solidFill>
                  <a:srgbClr val="526A7C"/>
                </a:solidFill>
                <a:latin typeface="DejaVu Sans"/>
              </a:defRPr>
            </a:pPr>
            <a:r>
              <a:t>Tìm và đăng ký hộ</a:t>
            </a:r>
          </a:p>
          <a:p>
            <a:pPr>
              <a:spcAft>
                <a:spcPts val="900"/>
              </a:spcAft>
              <a:defRPr sz="1400" b="0">
                <a:solidFill>
                  <a:srgbClr val="526A7C"/>
                </a:solidFill>
                <a:latin typeface="DejaVu Sans"/>
              </a:defRPr>
            </a:pPr>
            <a:r>
              <a:t>Thu quầy, ghi actor</a:t>
            </a:r>
          </a:p>
        </p:txBody>
      </p:sp>
      <p:sp>
        <p:nvSpPr>
          <p:cNvPr id="26" name="Rounded Rectangle 25"/>
          <p:cNvSpPr/>
          <p:nvPr/>
        </p:nvSpPr>
        <p:spPr>
          <a:xfrm>
            <a:off x="6217920" y="3154680"/>
            <a:ext cx="26517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3383280"/>
            <a:ext cx="2414016" cy="457200"/>
          </a:xfrm>
          <a:prstGeom prst="rect">
            <a:avLst/>
          </a:prstGeom>
          <a:noFill/>
        </p:spPr>
        <p:txBody>
          <a:bodyPr wrap="square" lIns="27432" rIns="27432" tIns="18288" bIns="18288">
            <a:spAutoFit/>
          </a:bodyPr>
          <a:lstStyle/>
          <a:p>
            <a:pPr>
              <a:spcAft>
                <a:spcPts val="900"/>
              </a:spcAft>
              <a:defRPr sz="1400" b="1">
                <a:solidFill>
                  <a:srgbClr val="167D8D"/>
                </a:solidFill>
                <a:latin typeface="DejaVu Sans"/>
              </a:defRPr>
            </a:pPr>
            <a:r>
              <a:t>HUẤN LUYỆN VIÊN</a:t>
            </a:r>
          </a:p>
        </p:txBody>
      </p:sp>
      <p:sp>
        <p:nvSpPr>
          <p:cNvPr id="28" name="TextBox 27"/>
          <p:cNvSpPr txBox="1"/>
          <p:nvPr/>
        </p:nvSpPr>
        <p:spPr>
          <a:xfrm>
            <a:off x="6336792" y="3950208"/>
            <a:ext cx="2414016" cy="731520"/>
          </a:xfrm>
          <a:prstGeom prst="rect">
            <a:avLst/>
          </a:prstGeom>
          <a:noFill/>
        </p:spPr>
        <p:txBody>
          <a:bodyPr wrap="square" lIns="27432" rIns="27432" tIns="18288" bIns="18288">
            <a:spAutoFit/>
          </a:bodyPr>
          <a:lstStyle/>
          <a:p>
            <a:pPr>
              <a:spcAft>
                <a:spcPts val="900"/>
              </a:spcAft>
              <a:defRPr sz="1400" b="0">
                <a:solidFill>
                  <a:srgbClr val="526A7C"/>
                </a:solidFill>
                <a:latin typeface="DejaVu Sans"/>
              </a:defRPr>
            </a:pPr>
            <a:r>
              <a:t>Lịch dạy, điểm danh</a:t>
            </a:r>
          </a:p>
          <a:p>
            <a:pPr>
              <a:spcAft>
                <a:spcPts val="900"/>
              </a:spcAft>
              <a:defRPr sz="1400" b="0">
                <a:solidFill>
                  <a:srgbClr val="526A7C"/>
                </a:solidFill>
                <a:latin typeface="DejaVu Sans"/>
              </a:defRPr>
            </a:pPr>
            <a:r>
              <a:t>Hồ sơ, tổng kết</a:t>
            </a:r>
          </a:p>
        </p:txBody>
      </p:sp>
      <p:sp>
        <p:nvSpPr>
          <p:cNvPr id="29" name="Rounded Rectangle 28"/>
          <p:cNvSpPr/>
          <p:nvPr/>
        </p:nvSpPr>
        <p:spPr>
          <a:xfrm>
            <a:off x="9052560" y="3154680"/>
            <a:ext cx="2651760" cy="1691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71432" y="3383280"/>
            <a:ext cx="2414016" cy="457200"/>
          </a:xfrm>
          <a:prstGeom prst="rect">
            <a:avLst/>
          </a:prstGeom>
          <a:noFill/>
        </p:spPr>
        <p:txBody>
          <a:bodyPr wrap="square" lIns="27432" rIns="27432" tIns="18288" bIns="18288">
            <a:spAutoFit/>
          </a:bodyPr>
          <a:lstStyle/>
          <a:p>
            <a:pPr>
              <a:spcAft>
                <a:spcPts val="900"/>
              </a:spcAft>
              <a:defRPr sz="1400" b="1">
                <a:solidFill>
                  <a:srgbClr val="167D8D"/>
                </a:solidFill>
                <a:latin typeface="DejaVu Sans"/>
              </a:defRPr>
            </a:pPr>
            <a:r>
              <a:t>QUẢN LÝ</a:t>
            </a:r>
          </a:p>
        </p:txBody>
      </p:sp>
      <p:sp>
        <p:nvSpPr>
          <p:cNvPr id="31" name="TextBox 30"/>
          <p:cNvSpPr txBox="1"/>
          <p:nvPr/>
        </p:nvSpPr>
        <p:spPr>
          <a:xfrm>
            <a:off x="9171432" y="3950208"/>
            <a:ext cx="2414016" cy="731520"/>
          </a:xfrm>
          <a:prstGeom prst="rect">
            <a:avLst/>
          </a:prstGeom>
          <a:noFill/>
        </p:spPr>
        <p:txBody>
          <a:bodyPr wrap="square" lIns="27432" rIns="27432" tIns="18288" bIns="18288">
            <a:spAutoFit/>
          </a:bodyPr>
          <a:lstStyle/>
          <a:p>
            <a:pPr>
              <a:spcAft>
                <a:spcPts val="900"/>
              </a:spcAft>
              <a:defRPr sz="1400" b="0">
                <a:solidFill>
                  <a:srgbClr val="526A7C"/>
                </a:solidFill>
                <a:latin typeface="DejaVu Sans"/>
              </a:defRPr>
            </a:pPr>
            <a:r>
              <a:t>Quyền và đối soát</a:t>
            </a:r>
          </a:p>
          <a:p>
            <a:pPr>
              <a:spcAft>
                <a:spcPts val="900"/>
              </a:spcAft>
              <a:defRPr sz="1400" b="0">
                <a:solidFill>
                  <a:srgbClr val="526A7C"/>
                </a:solidFill>
                <a:latin typeface="DejaVu Sans"/>
              </a:defRPr>
            </a:pPr>
            <a:r>
              <a:t>Kiểm duyệt, báo cáo</a:t>
            </a:r>
          </a:p>
        </p:txBody>
      </p:sp>
      <p:sp>
        <p:nvSpPr>
          <p:cNvPr id="32" name="TextBox 31"/>
          <p:cNvSpPr txBox="1"/>
          <p:nvPr/>
        </p:nvSpPr>
        <p:spPr>
          <a:xfrm>
            <a:off x="594360" y="5303520"/>
            <a:ext cx="10972800" cy="914400"/>
          </a:xfrm>
          <a:prstGeom prst="rect">
            <a:avLst/>
          </a:prstGeom>
          <a:noFill/>
        </p:spPr>
        <p:txBody>
          <a:bodyPr wrap="square" lIns="27432" rIns="27432" tIns="18288" bIns="18288">
            <a:spAutoFit/>
          </a:bodyPr>
          <a:lstStyle/>
          <a:p>
            <a:pPr>
              <a:spcAft>
                <a:spcPts val="900"/>
              </a:spcAft>
              <a:defRPr sz="1900" b="1">
                <a:solidFill>
                  <a:srgbClr val="163B58"/>
                </a:solidFill>
                <a:latin typeface="DejaVu Sans"/>
              </a:defRPr>
            </a:pPr>
            <a:r>
              <a:t>Gói tự tập ≠ khóa học     |     API kiểm tra quyền và phạm vi     |     Snapshot khi công bố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C43"/>
        </a:solidFill>
        <a:effectLst/>
      </p:bgPr>
    </p:bg>
    <p:spTree>
      <p:nvGrpSpPr>
        <p:cNvPr id="1" name=""/>
        <p:cNvGrpSpPr/>
        <p:nvPr/>
      </p:nvGrpSpPr>
      <p:grpSpPr/>
      <p:sp>
        <p:nvSpPr>
          <p:cNvPr id="2" name="TextBox 1"/>
          <p:cNvSpPr txBox="1"/>
          <p:nvPr/>
        </p:nvSpPr>
        <p:spPr>
          <a:xfrm>
            <a:off x="502920" y="228600"/>
            <a:ext cx="10058400" cy="320040"/>
          </a:xfrm>
          <a:prstGeom prst="rect">
            <a:avLst/>
          </a:prstGeom>
          <a:noFill/>
        </p:spPr>
        <p:txBody>
          <a:bodyPr wrap="square" lIns="27432" rIns="27432" tIns="18288" bIns="18288">
            <a:spAutoFit/>
          </a:bodyPr>
          <a:lstStyle/>
          <a:p>
            <a:pPr>
              <a:spcAft>
                <a:spcPts val="900"/>
              </a:spcAft>
              <a:defRPr sz="1200" b="1">
                <a:solidFill>
                  <a:srgbClr val="8FC8DE"/>
                </a:solidFill>
                <a:latin typeface="DejaVu Sans"/>
              </a:defRPr>
            </a:pPr>
            <a:r>
              <a:t>04  TECHNOLOGY + ARCHITECTURE</a:t>
            </a:r>
          </a:p>
        </p:txBody>
      </p:sp>
      <p:sp>
        <p:nvSpPr>
          <p:cNvPr id="3" name="TextBox 2"/>
          <p:cNvSpPr txBox="1"/>
          <p:nvPr/>
        </p:nvSpPr>
        <p:spPr>
          <a:xfrm>
            <a:off x="502920" y="731520"/>
            <a:ext cx="11064240" cy="1097280"/>
          </a:xfrm>
          <a:prstGeom prst="rect">
            <a:avLst/>
          </a:prstGeom>
          <a:noFill/>
        </p:spPr>
        <p:txBody>
          <a:bodyPr wrap="square" lIns="27432" rIns="27432" tIns="18288" bIns="18288">
            <a:spAutoFit/>
          </a:bodyPr>
          <a:lstStyle/>
          <a:p>
            <a:pPr>
              <a:spcAft>
                <a:spcPts val="900"/>
              </a:spcAft>
              <a:defRPr sz="3200" b="1">
                <a:solidFill>
                  <a:srgbClr val="FFFFFF"/>
                </a:solidFill>
                <a:latin typeface="DejaVu Sans"/>
              </a:defRPr>
            </a:pPr>
            <a:r>
              <a:t>Giữ nghiệp vụ nhất quán tại API và dữ liệu</a:t>
            </a:r>
          </a:p>
        </p:txBody>
      </p:sp>
      <p:sp>
        <p:nvSpPr>
          <p:cNvPr id="4" name="TextBox 3"/>
          <p:cNvSpPr txBox="1"/>
          <p:nvPr/>
        </p:nvSpPr>
        <p:spPr>
          <a:xfrm>
            <a:off x="502920" y="6473952"/>
            <a:ext cx="10058400" cy="201168"/>
          </a:xfrm>
          <a:prstGeom prst="rect">
            <a:avLst/>
          </a:prstGeom>
          <a:noFill/>
        </p:spPr>
        <p:txBody>
          <a:bodyPr wrap="square" lIns="27432" rIns="27432" tIns="18288" bIns="18288">
            <a:spAutoFit/>
          </a:bodyPr>
          <a:lstStyle/>
          <a:p>
            <a:pPr>
              <a:spcAft>
                <a:spcPts val="900"/>
              </a:spcAft>
              <a:defRPr sz="800" b="0">
                <a:solidFill>
                  <a:srgbClr val="B3CAD7"/>
                </a:solidFill>
                <a:latin typeface="DejaVu Sans"/>
              </a:defRPr>
            </a:pPr>
            <a:r>
              <a:t>SPORTS CENTER  /  SWP391 FA26  /  NHÓM NHANH · BẢO · KHÔI · KHẢI</a:t>
            </a:r>
          </a:p>
        </p:txBody>
      </p:sp>
      <p:sp>
        <p:nvSpPr>
          <p:cNvPr id="5" name="TextBox 4"/>
          <p:cNvSpPr txBox="1"/>
          <p:nvPr/>
        </p:nvSpPr>
        <p:spPr>
          <a:xfrm>
            <a:off x="11064240" y="6419088"/>
            <a:ext cx="548640" cy="320040"/>
          </a:xfrm>
          <a:prstGeom prst="rect">
            <a:avLst/>
          </a:prstGeom>
          <a:noFill/>
        </p:spPr>
        <p:txBody>
          <a:bodyPr wrap="square" lIns="27432" rIns="27432" tIns="18288" bIns="18288">
            <a:spAutoFit/>
          </a:bodyPr>
          <a:lstStyle/>
          <a:p>
            <a:pPr>
              <a:spcAft>
                <a:spcPts val="900"/>
              </a:spcAft>
              <a:defRPr sz="1000" b="0">
                <a:solidFill>
                  <a:srgbClr val="B3CAD7"/>
                </a:solidFill>
                <a:latin typeface="DejaVu Sans"/>
              </a:defRPr>
            </a:pPr>
            <a:r>
              <a:t>04 / 05</a:t>
            </a:r>
          </a:p>
        </p:txBody>
      </p:sp>
      <p:sp>
        <p:nvSpPr>
          <p:cNvPr id="6" name="Rounded Rectangle 5"/>
          <p:cNvSpPr/>
          <p:nvPr/>
        </p:nvSpPr>
        <p:spPr>
          <a:xfrm>
            <a:off x="548640" y="2057400"/>
            <a:ext cx="3566160" cy="1600200"/>
          </a:xfrm>
          <a:prstGeom prst="roundRect">
            <a:avLst/>
          </a:prstGeom>
          <a:solidFill>
            <a:srgbClr val="1B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04288"/>
            <a:ext cx="3200400" cy="365760"/>
          </a:xfrm>
          <a:prstGeom prst="rect">
            <a:avLst/>
          </a:prstGeom>
          <a:noFill/>
        </p:spPr>
        <p:txBody>
          <a:bodyPr wrap="square" lIns="27432" rIns="27432" tIns="18288" bIns="18288">
            <a:spAutoFit/>
          </a:bodyPr>
          <a:lstStyle/>
          <a:p>
            <a:pPr>
              <a:spcAft>
                <a:spcPts val="900"/>
              </a:spcAft>
              <a:defRPr sz="1700" b="1">
                <a:solidFill>
                  <a:srgbClr val="8FC8DE"/>
                </a:solidFill>
                <a:latin typeface="DejaVu Sans"/>
              </a:defRPr>
            </a:pPr>
            <a:r>
              <a:t>TRÌNH DUYỆT</a:t>
            </a:r>
          </a:p>
        </p:txBody>
      </p:sp>
      <p:sp>
        <p:nvSpPr>
          <p:cNvPr id="8" name="TextBox 7"/>
          <p:cNvSpPr txBox="1"/>
          <p:nvPr/>
        </p:nvSpPr>
        <p:spPr>
          <a:xfrm>
            <a:off x="713232" y="2852928"/>
            <a:ext cx="3200400" cy="594360"/>
          </a:xfrm>
          <a:prstGeom prst="rect">
            <a:avLst/>
          </a:prstGeom>
          <a:noFill/>
        </p:spPr>
        <p:txBody>
          <a:bodyPr wrap="square" lIns="27432" rIns="27432" tIns="18288" bIns="18288">
            <a:spAutoFit/>
          </a:bodyPr>
          <a:lstStyle/>
          <a:p>
            <a:pPr>
              <a:spcAft>
                <a:spcPts val="900"/>
              </a:spcAft>
              <a:defRPr sz="1500" b="0">
                <a:solidFill>
                  <a:srgbClr val="FFFFFF"/>
                </a:solidFill>
                <a:latin typeface="DejaVu Sans"/>
              </a:defRPr>
            </a:pPr>
            <a:r>
              <a:t>React 19 · Ant Design 6</a:t>
            </a:r>
          </a:p>
          <a:p>
            <a:pPr>
              <a:spcAft>
                <a:spcPts val="900"/>
              </a:spcAft>
              <a:defRPr sz="1500" b="0">
                <a:solidFill>
                  <a:srgbClr val="FFFFFF"/>
                </a:solidFill>
                <a:latin typeface="DejaVu Sans"/>
              </a:defRPr>
            </a:pPr>
            <a:r>
              <a:t>Router · Query · Zustand</a:t>
            </a:r>
          </a:p>
        </p:txBody>
      </p:sp>
      <p:sp>
        <p:nvSpPr>
          <p:cNvPr id="9" name="Rounded Rectangle 8"/>
          <p:cNvSpPr/>
          <p:nvPr/>
        </p:nvSpPr>
        <p:spPr>
          <a:xfrm>
            <a:off x="4315968" y="2057400"/>
            <a:ext cx="3566160" cy="1600200"/>
          </a:xfrm>
          <a:prstGeom prst="roundRect">
            <a:avLst/>
          </a:prstGeom>
          <a:solidFill>
            <a:srgbClr val="1B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2304288"/>
            <a:ext cx="3200400" cy="365760"/>
          </a:xfrm>
          <a:prstGeom prst="rect">
            <a:avLst/>
          </a:prstGeom>
          <a:noFill/>
        </p:spPr>
        <p:txBody>
          <a:bodyPr wrap="square" lIns="27432" rIns="27432" tIns="18288" bIns="18288">
            <a:spAutoFit/>
          </a:bodyPr>
          <a:lstStyle/>
          <a:p>
            <a:pPr>
              <a:spcAft>
                <a:spcPts val="900"/>
              </a:spcAft>
              <a:defRPr sz="1700" b="1">
                <a:solidFill>
                  <a:srgbClr val="8FC8DE"/>
                </a:solidFill>
                <a:latin typeface="DejaVu Sans"/>
              </a:defRPr>
            </a:pPr>
            <a:r>
              <a:t>API NGHIỆP VỤ</a:t>
            </a:r>
          </a:p>
        </p:txBody>
      </p:sp>
      <p:sp>
        <p:nvSpPr>
          <p:cNvPr id="11" name="TextBox 10"/>
          <p:cNvSpPr txBox="1"/>
          <p:nvPr/>
        </p:nvSpPr>
        <p:spPr>
          <a:xfrm>
            <a:off x="4480559" y="2852928"/>
            <a:ext cx="3200400" cy="594360"/>
          </a:xfrm>
          <a:prstGeom prst="rect">
            <a:avLst/>
          </a:prstGeom>
          <a:noFill/>
        </p:spPr>
        <p:txBody>
          <a:bodyPr wrap="square" lIns="27432" rIns="27432" tIns="18288" bIns="18288">
            <a:spAutoFit/>
          </a:bodyPr>
          <a:lstStyle/>
          <a:p>
            <a:pPr>
              <a:spcAft>
                <a:spcPts val="900"/>
              </a:spcAft>
              <a:defRPr sz="1500" b="0">
                <a:solidFill>
                  <a:srgbClr val="FFFFFF"/>
                </a:solidFill>
                <a:latin typeface="DejaVu Sans"/>
              </a:defRPr>
            </a:pPr>
            <a:r>
              <a:t>Node · Express 5 · Zod</a:t>
            </a:r>
          </a:p>
          <a:p>
            <a:pPr>
              <a:spcAft>
                <a:spcPts val="900"/>
              </a:spcAft>
              <a:defRPr sz="1500" b="0">
                <a:solidFill>
                  <a:srgbClr val="FFFFFF"/>
                </a:solidFill>
                <a:latin typeface="DejaVu Sans"/>
              </a:defRPr>
            </a:pPr>
            <a:r>
              <a:t>JWT → quyền → service</a:t>
            </a:r>
          </a:p>
        </p:txBody>
      </p:sp>
      <p:sp>
        <p:nvSpPr>
          <p:cNvPr id="12" name="Rounded Rectangle 11"/>
          <p:cNvSpPr/>
          <p:nvPr/>
        </p:nvSpPr>
        <p:spPr>
          <a:xfrm>
            <a:off x="8083296" y="2057400"/>
            <a:ext cx="3566160" cy="1600200"/>
          </a:xfrm>
          <a:prstGeom prst="roundRect">
            <a:avLst/>
          </a:prstGeom>
          <a:solidFill>
            <a:srgbClr val="1B43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2304288"/>
            <a:ext cx="3200400" cy="365760"/>
          </a:xfrm>
          <a:prstGeom prst="rect">
            <a:avLst/>
          </a:prstGeom>
          <a:noFill/>
        </p:spPr>
        <p:txBody>
          <a:bodyPr wrap="square" lIns="27432" rIns="27432" tIns="18288" bIns="18288">
            <a:spAutoFit/>
          </a:bodyPr>
          <a:lstStyle/>
          <a:p>
            <a:pPr>
              <a:spcAft>
                <a:spcPts val="900"/>
              </a:spcAft>
              <a:defRPr sz="1700" b="1">
                <a:solidFill>
                  <a:srgbClr val="8FC8DE"/>
                </a:solidFill>
                <a:latin typeface="DejaVu Sans"/>
              </a:defRPr>
            </a:pPr>
            <a:r>
              <a:t>DỮ LIỆU</a:t>
            </a:r>
          </a:p>
        </p:txBody>
      </p:sp>
      <p:sp>
        <p:nvSpPr>
          <p:cNvPr id="14" name="TextBox 13"/>
          <p:cNvSpPr txBox="1"/>
          <p:nvPr/>
        </p:nvSpPr>
        <p:spPr>
          <a:xfrm>
            <a:off x="8247888" y="2852928"/>
            <a:ext cx="3200400" cy="594360"/>
          </a:xfrm>
          <a:prstGeom prst="rect">
            <a:avLst/>
          </a:prstGeom>
          <a:noFill/>
        </p:spPr>
        <p:txBody>
          <a:bodyPr wrap="square" lIns="27432" rIns="27432" tIns="18288" bIns="18288">
            <a:spAutoFit/>
          </a:bodyPr>
          <a:lstStyle/>
          <a:p>
            <a:pPr>
              <a:spcAft>
                <a:spcPts val="900"/>
              </a:spcAft>
              <a:defRPr sz="1500" b="0">
                <a:solidFill>
                  <a:srgbClr val="FFFFFF"/>
                </a:solidFill>
                <a:latin typeface="DejaVu Sans"/>
              </a:defRPr>
            </a:pPr>
            <a:r>
              <a:t>Prisma 7 · MySQL 8</a:t>
            </a:r>
          </a:p>
          <a:p>
            <a:pPr>
              <a:spcAft>
                <a:spcPts val="900"/>
              </a:spcAft>
              <a:defRPr sz="1500" b="0">
                <a:solidFill>
                  <a:srgbClr val="FFFFFF"/>
                </a:solidFill>
                <a:latin typeface="DejaVu Sans"/>
              </a:defRPr>
            </a:pPr>
            <a:r>
              <a:t>Transaction · FK · unique</a:t>
            </a:r>
          </a:p>
        </p:txBody>
      </p:sp>
      <p:sp>
        <p:nvSpPr>
          <p:cNvPr id="15" name="TextBox 14"/>
          <p:cNvSpPr txBox="1"/>
          <p:nvPr/>
        </p:nvSpPr>
        <p:spPr>
          <a:xfrm>
            <a:off x="4096512" y="2697480"/>
            <a:ext cx="228600" cy="365760"/>
          </a:xfrm>
          <a:prstGeom prst="rect">
            <a:avLst/>
          </a:prstGeom>
          <a:noFill/>
        </p:spPr>
        <p:txBody>
          <a:bodyPr wrap="square" lIns="27432" rIns="27432" tIns="18288" bIns="18288">
            <a:spAutoFit/>
          </a:bodyPr>
          <a:lstStyle/>
          <a:p>
            <a:pPr>
              <a:spcAft>
                <a:spcPts val="900"/>
              </a:spcAft>
              <a:defRPr sz="1700" b="0">
                <a:solidFill>
                  <a:srgbClr val="FFFFFF"/>
                </a:solidFill>
                <a:latin typeface="DejaVu Sans"/>
              </a:defRPr>
            </a:pPr>
            <a:r>
              <a:t>→</a:t>
            </a:r>
          </a:p>
        </p:txBody>
      </p:sp>
      <p:sp>
        <p:nvSpPr>
          <p:cNvPr id="16" name="TextBox 15"/>
          <p:cNvSpPr txBox="1"/>
          <p:nvPr/>
        </p:nvSpPr>
        <p:spPr>
          <a:xfrm>
            <a:off x="7863840" y="2697480"/>
            <a:ext cx="228600" cy="365760"/>
          </a:xfrm>
          <a:prstGeom prst="rect">
            <a:avLst/>
          </a:prstGeom>
          <a:noFill/>
        </p:spPr>
        <p:txBody>
          <a:bodyPr wrap="square" lIns="27432" rIns="27432" tIns="18288" bIns="18288">
            <a:spAutoFit/>
          </a:bodyPr>
          <a:lstStyle/>
          <a:p>
            <a:pPr>
              <a:spcAft>
                <a:spcPts val="900"/>
              </a:spcAft>
              <a:defRPr sz="1700" b="0">
                <a:solidFill>
                  <a:srgbClr val="FFFFFF"/>
                </a:solidFill>
                <a:latin typeface="DejaVu Sans"/>
              </a:defRPr>
            </a:pPr>
            <a:r>
              <a:t>→</a:t>
            </a:r>
          </a:p>
        </p:txBody>
      </p:sp>
      <p:sp>
        <p:nvSpPr>
          <p:cNvPr id="17" name="TextBox 16"/>
          <p:cNvSpPr txBox="1"/>
          <p:nvPr/>
        </p:nvSpPr>
        <p:spPr>
          <a:xfrm>
            <a:off x="640080" y="4160520"/>
            <a:ext cx="2286000" cy="365760"/>
          </a:xfrm>
          <a:prstGeom prst="rect">
            <a:avLst/>
          </a:prstGeom>
          <a:noFill/>
        </p:spPr>
        <p:txBody>
          <a:bodyPr wrap="square" lIns="27432" rIns="27432" tIns="18288" bIns="18288">
            <a:spAutoFit/>
          </a:bodyPr>
          <a:lstStyle/>
          <a:p>
            <a:pPr>
              <a:spcAft>
                <a:spcPts val="900"/>
              </a:spcAft>
              <a:defRPr sz="1300" b="1">
                <a:solidFill>
                  <a:srgbClr val="8FC8DE"/>
                </a:solidFill>
                <a:latin typeface="DejaVu Sans"/>
              </a:defRPr>
            </a:pPr>
            <a:r>
              <a:t>THANH TOÁN</a:t>
            </a:r>
          </a:p>
        </p:txBody>
      </p:sp>
      <p:sp>
        <p:nvSpPr>
          <p:cNvPr id="18" name="TextBox 17"/>
          <p:cNvSpPr txBox="1"/>
          <p:nvPr/>
        </p:nvSpPr>
        <p:spPr>
          <a:xfrm>
            <a:off x="2971800" y="4160520"/>
            <a:ext cx="8412480" cy="365760"/>
          </a:xfrm>
          <a:prstGeom prst="rect">
            <a:avLst/>
          </a:prstGeom>
          <a:noFill/>
        </p:spPr>
        <p:txBody>
          <a:bodyPr wrap="square" lIns="27432" rIns="27432" tIns="18288" bIns="18288">
            <a:spAutoFit/>
          </a:bodyPr>
          <a:lstStyle/>
          <a:p>
            <a:pPr>
              <a:spcAft>
                <a:spcPts val="900"/>
              </a:spcAft>
              <a:defRPr sz="1600" b="0">
                <a:solidFill>
                  <a:srgbClr val="FFFFFF"/>
                </a:solidFill>
                <a:latin typeface="DejaVu Sans"/>
              </a:defRPr>
            </a:pPr>
            <a:r>
              <a:t>Webhook SePay có xác thực / chống trùng</a:t>
            </a:r>
          </a:p>
        </p:txBody>
      </p:sp>
      <p:sp>
        <p:nvSpPr>
          <p:cNvPr id="19" name="TextBox 18"/>
          <p:cNvSpPr txBox="1"/>
          <p:nvPr/>
        </p:nvSpPr>
        <p:spPr>
          <a:xfrm>
            <a:off x="640080" y="4709159"/>
            <a:ext cx="2286000" cy="365760"/>
          </a:xfrm>
          <a:prstGeom prst="rect">
            <a:avLst/>
          </a:prstGeom>
          <a:noFill/>
        </p:spPr>
        <p:txBody>
          <a:bodyPr wrap="square" lIns="27432" rIns="27432" tIns="18288" bIns="18288">
            <a:spAutoFit/>
          </a:bodyPr>
          <a:lstStyle/>
          <a:p>
            <a:pPr>
              <a:spcAft>
                <a:spcPts val="900"/>
              </a:spcAft>
              <a:defRPr sz="1300" b="1">
                <a:solidFill>
                  <a:srgbClr val="8FC8DE"/>
                </a:solidFill>
                <a:latin typeface="DejaVu Sans"/>
              </a:defRPr>
            </a:pPr>
            <a:r>
              <a:t>TÁC VỤ NỀN</a:t>
            </a:r>
          </a:p>
        </p:txBody>
      </p:sp>
      <p:sp>
        <p:nvSpPr>
          <p:cNvPr id="20" name="TextBox 19"/>
          <p:cNvSpPr txBox="1"/>
          <p:nvPr/>
        </p:nvSpPr>
        <p:spPr>
          <a:xfrm>
            <a:off x="2971800" y="4709159"/>
            <a:ext cx="8412480" cy="365760"/>
          </a:xfrm>
          <a:prstGeom prst="rect">
            <a:avLst/>
          </a:prstGeom>
          <a:noFill/>
        </p:spPr>
        <p:txBody>
          <a:bodyPr wrap="square" lIns="27432" rIns="27432" tIns="18288" bIns="18288">
            <a:spAutoFit/>
          </a:bodyPr>
          <a:lstStyle/>
          <a:p>
            <a:pPr>
              <a:spcAft>
                <a:spcPts val="900"/>
              </a:spcAft>
              <a:defRPr sz="1600" b="0">
                <a:solidFill>
                  <a:srgbClr val="FFFFFF"/>
                </a:solidFill>
                <a:latin typeface="DejaVu Sans"/>
              </a:defRPr>
            </a:pPr>
            <a:r>
              <a:t>Hết hạn, danh sách chờ, tổng kết, outbox</a:t>
            </a:r>
          </a:p>
        </p:txBody>
      </p:sp>
      <p:sp>
        <p:nvSpPr>
          <p:cNvPr id="21" name="TextBox 20"/>
          <p:cNvSpPr txBox="1"/>
          <p:nvPr/>
        </p:nvSpPr>
        <p:spPr>
          <a:xfrm>
            <a:off x="640080" y="5257800"/>
            <a:ext cx="2286000" cy="365760"/>
          </a:xfrm>
          <a:prstGeom prst="rect">
            <a:avLst/>
          </a:prstGeom>
          <a:noFill/>
        </p:spPr>
        <p:txBody>
          <a:bodyPr wrap="square" lIns="27432" rIns="27432" tIns="18288" bIns="18288">
            <a:spAutoFit/>
          </a:bodyPr>
          <a:lstStyle/>
          <a:p>
            <a:pPr>
              <a:spcAft>
                <a:spcPts val="900"/>
              </a:spcAft>
              <a:defRPr sz="1300" b="1">
                <a:solidFill>
                  <a:srgbClr val="8FC8DE"/>
                </a:solidFill>
                <a:latin typeface="DejaVu Sans"/>
              </a:defRPr>
            </a:pPr>
            <a:r>
              <a:t>KẾT QUẢ</a:t>
            </a:r>
          </a:p>
        </p:txBody>
      </p:sp>
      <p:sp>
        <p:nvSpPr>
          <p:cNvPr id="22" name="TextBox 21"/>
          <p:cNvSpPr txBox="1"/>
          <p:nvPr/>
        </p:nvSpPr>
        <p:spPr>
          <a:xfrm>
            <a:off x="2971800" y="5257800"/>
            <a:ext cx="8412480" cy="365760"/>
          </a:xfrm>
          <a:prstGeom prst="rect">
            <a:avLst/>
          </a:prstGeom>
          <a:noFill/>
        </p:spPr>
        <p:txBody>
          <a:bodyPr wrap="square" lIns="27432" rIns="27432" tIns="18288" bIns="18288">
            <a:spAutoFit/>
          </a:bodyPr>
          <a:lstStyle/>
          <a:p>
            <a:pPr>
              <a:spcAft>
                <a:spcPts val="900"/>
              </a:spcAft>
              <a:defRPr sz="1600" b="0">
                <a:solidFill>
                  <a:srgbClr val="FFFFFF"/>
                </a:solidFill>
                <a:latin typeface="DejaVu Sans"/>
              </a:defRPr>
            </a:pPr>
            <a:r>
              <a:t>Snapshot + revision; xuất PDF / Excel / 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228600"/>
            <a:ext cx="10058400" cy="320040"/>
          </a:xfrm>
          <a:prstGeom prst="rect">
            <a:avLst/>
          </a:prstGeom>
          <a:noFill/>
        </p:spPr>
        <p:txBody>
          <a:bodyPr wrap="square" lIns="27432" rIns="27432" tIns="18288" bIns="18288">
            <a:spAutoFit/>
          </a:bodyPr>
          <a:lstStyle/>
          <a:p>
            <a:pPr>
              <a:spcAft>
                <a:spcPts val="900"/>
              </a:spcAft>
              <a:defRPr sz="1200" b="1">
                <a:solidFill>
                  <a:srgbClr val="167D8D"/>
                </a:solidFill>
                <a:latin typeface="DejaVu Sans"/>
              </a:defRPr>
            </a:pPr>
            <a:r>
              <a:t>05  LIVE DEMO / 28 PHÚT</a:t>
            </a:r>
          </a:p>
        </p:txBody>
      </p:sp>
      <p:sp>
        <p:nvSpPr>
          <p:cNvPr id="3" name="TextBox 2"/>
          <p:cNvSpPr txBox="1"/>
          <p:nvPr/>
        </p:nvSpPr>
        <p:spPr>
          <a:xfrm>
            <a:off x="502920" y="731520"/>
            <a:ext cx="11064240" cy="1097280"/>
          </a:xfrm>
          <a:prstGeom prst="rect">
            <a:avLst/>
          </a:prstGeom>
          <a:noFill/>
        </p:spPr>
        <p:txBody>
          <a:bodyPr wrap="square" lIns="27432" rIns="27432" tIns="18288" bIns="18288">
            <a:spAutoFit/>
          </a:bodyPr>
          <a:lstStyle/>
          <a:p>
            <a:pPr>
              <a:spcAft>
                <a:spcPts val="900"/>
              </a:spcAft>
              <a:defRPr sz="3200" b="1">
                <a:solidFill>
                  <a:srgbClr val="163B58"/>
                </a:solidFill>
                <a:latin typeface="DejaVu Sans"/>
              </a:defRPr>
            </a:pPr>
            <a:r>
              <a:t>Chứng minh luồng chạy được và có bằng chứng</a:t>
            </a:r>
          </a:p>
        </p:txBody>
      </p:sp>
      <p:sp>
        <p:nvSpPr>
          <p:cNvPr id="4" name="TextBox 3"/>
          <p:cNvSpPr txBox="1"/>
          <p:nvPr/>
        </p:nvSpPr>
        <p:spPr>
          <a:xfrm>
            <a:off x="502920" y="6473952"/>
            <a:ext cx="10058400" cy="201168"/>
          </a:xfrm>
          <a:prstGeom prst="rect">
            <a:avLst/>
          </a:prstGeom>
          <a:noFill/>
        </p:spPr>
        <p:txBody>
          <a:bodyPr wrap="square" lIns="27432" rIns="27432" tIns="18288" bIns="18288">
            <a:spAutoFit/>
          </a:bodyPr>
          <a:lstStyle/>
          <a:p>
            <a:pPr>
              <a:spcAft>
                <a:spcPts val="900"/>
              </a:spcAft>
              <a:defRPr sz="800" b="0">
                <a:solidFill>
                  <a:srgbClr val="526A7C"/>
                </a:solidFill>
                <a:latin typeface="DejaVu Sans"/>
              </a:defRPr>
            </a:pPr>
            <a:r>
              <a:t>SPORTS CENTER  /  SWP391 FA26  /  NHÓM NHANH · BẢO · KHÔI · KHẢI</a:t>
            </a:r>
          </a:p>
        </p:txBody>
      </p:sp>
      <p:sp>
        <p:nvSpPr>
          <p:cNvPr id="5" name="TextBox 4"/>
          <p:cNvSpPr txBox="1"/>
          <p:nvPr/>
        </p:nvSpPr>
        <p:spPr>
          <a:xfrm>
            <a:off x="11064240" y="6419088"/>
            <a:ext cx="548640" cy="320040"/>
          </a:xfrm>
          <a:prstGeom prst="rect">
            <a:avLst/>
          </a:prstGeom>
          <a:noFill/>
        </p:spPr>
        <p:txBody>
          <a:bodyPr wrap="square" lIns="27432" rIns="27432" tIns="18288" bIns="18288">
            <a:spAutoFit/>
          </a:bodyPr>
          <a:lstStyle/>
          <a:p>
            <a:pPr>
              <a:spcAft>
                <a:spcPts val="900"/>
              </a:spcAft>
              <a:defRPr sz="1000" b="0">
                <a:solidFill>
                  <a:srgbClr val="526A7C"/>
                </a:solidFill>
                <a:latin typeface="DejaVu Sans"/>
              </a:defRPr>
            </a:pPr>
            <a:r>
              <a:t>05 / 05</a:t>
            </a:r>
          </a:p>
        </p:txBody>
      </p:sp>
      <p:sp>
        <p:nvSpPr>
          <p:cNvPr id="6" name="TextBox 5"/>
          <p:cNvSpPr txBox="1"/>
          <p:nvPr/>
        </p:nvSpPr>
        <p:spPr>
          <a:xfrm>
            <a:off x="594360" y="1965960"/>
            <a:ext cx="1143000" cy="365760"/>
          </a:xfrm>
          <a:prstGeom prst="rect">
            <a:avLst/>
          </a:prstGeom>
          <a:noFill/>
        </p:spPr>
        <p:txBody>
          <a:bodyPr wrap="square" lIns="27432" rIns="27432" tIns="18288" bIns="18288">
            <a:spAutoFit/>
          </a:bodyPr>
          <a:lstStyle/>
          <a:p>
            <a:pPr>
              <a:spcAft>
                <a:spcPts val="900"/>
              </a:spcAft>
              <a:defRPr sz="1600" b="1">
                <a:solidFill>
                  <a:srgbClr val="167D8D"/>
                </a:solidFill>
                <a:latin typeface="DejaVu Sans"/>
              </a:defRPr>
            </a:pPr>
            <a:r>
              <a:t>06–10’</a:t>
            </a:r>
          </a:p>
        </p:txBody>
      </p:sp>
      <p:sp>
        <p:nvSpPr>
          <p:cNvPr id="7" name="TextBox 6"/>
          <p:cNvSpPr txBox="1"/>
          <p:nvPr/>
        </p:nvSpPr>
        <p:spPr>
          <a:xfrm>
            <a:off x="1783080" y="1965960"/>
            <a:ext cx="5120640" cy="411480"/>
          </a:xfrm>
          <a:prstGeom prst="rect">
            <a:avLst/>
          </a:prstGeom>
          <a:noFill/>
        </p:spPr>
        <p:txBody>
          <a:bodyPr wrap="square" lIns="27432" rIns="27432" tIns="18288" bIns="18288">
            <a:spAutoFit/>
          </a:bodyPr>
          <a:lstStyle/>
          <a:p>
            <a:pPr>
              <a:spcAft>
                <a:spcPts val="900"/>
              </a:spcAft>
              <a:defRPr sz="1700" b="0">
                <a:solidFill>
                  <a:srgbClr val="163B58"/>
                </a:solidFill>
                <a:latin typeface="DejaVu Sans"/>
              </a:defRPr>
            </a:pPr>
            <a:r>
              <a:t>Mua → thiếu tiền → chuyển bù → PAID</a:t>
            </a:r>
          </a:p>
        </p:txBody>
      </p:sp>
      <p:sp>
        <p:nvSpPr>
          <p:cNvPr id="8" name="TextBox 7"/>
          <p:cNvSpPr txBox="1"/>
          <p:nvPr/>
        </p:nvSpPr>
        <p:spPr>
          <a:xfrm>
            <a:off x="594360" y="2532888"/>
            <a:ext cx="1143000" cy="365760"/>
          </a:xfrm>
          <a:prstGeom prst="rect">
            <a:avLst/>
          </a:prstGeom>
          <a:noFill/>
        </p:spPr>
        <p:txBody>
          <a:bodyPr wrap="square" lIns="27432" rIns="27432" tIns="18288" bIns="18288">
            <a:spAutoFit/>
          </a:bodyPr>
          <a:lstStyle/>
          <a:p>
            <a:pPr>
              <a:spcAft>
                <a:spcPts val="900"/>
              </a:spcAft>
              <a:defRPr sz="1600" b="1">
                <a:solidFill>
                  <a:srgbClr val="167D8D"/>
                </a:solidFill>
                <a:latin typeface="DejaVu Sans"/>
              </a:defRPr>
            </a:pPr>
            <a:r>
              <a:t>10–13’</a:t>
            </a:r>
          </a:p>
        </p:txBody>
      </p:sp>
      <p:sp>
        <p:nvSpPr>
          <p:cNvPr id="9" name="TextBox 8"/>
          <p:cNvSpPr txBox="1"/>
          <p:nvPr/>
        </p:nvSpPr>
        <p:spPr>
          <a:xfrm>
            <a:off x="1783080" y="2532888"/>
            <a:ext cx="5120640" cy="411480"/>
          </a:xfrm>
          <a:prstGeom prst="rect">
            <a:avLst/>
          </a:prstGeom>
          <a:noFill/>
        </p:spPr>
        <p:txBody>
          <a:bodyPr wrap="square" lIns="27432" rIns="27432" tIns="18288" bIns="18288">
            <a:spAutoFit/>
          </a:bodyPr>
          <a:lstStyle/>
          <a:p>
            <a:pPr>
              <a:spcAft>
                <a:spcPts val="900"/>
              </a:spcAft>
              <a:defRPr sz="1700" b="0">
                <a:solidFill>
                  <a:srgbClr val="163B58"/>
                </a:solidFill>
                <a:latin typeface="DejaVu Sans"/>
              </a:defRPr>
            </a:pPr>
            <a:r>
              <a:t>Đăng ký, chặn trùng lịch, xử lý hộ</a:t>
            </a:r>
          </a:p>
        </p:txBody>
      </p:sp>
      <p:sp>
        <p:nvSpPr>
          <p:cNvPr id="10" name="TextBox 9"/>
          <p:cNvSpPr txBox="1"/>
          <p:nvPr/>
        </p:nvSpPr>
        <p:spPr>
          <a:xfrm>
            <a:off x="594360" y="3099815"/>
            <a:ext cx="1143000" cy="365760"/>
          </a:xfrm>
          <a:prstGeom prst="rect">
            <a:avLst/>
          </a:prstGeom>
          <a:noFill/>
        </p:spPr>
        <p:txBody>
          <a:bodyPr wrap="square" lIns="27432" rIns="27432" tIns="18288" bIns="18288">
            <a:spAutoFit/>
          </a:bodyPr>
          <a:lstStyle/>
          <a:p>
            <a:pPr>
              <a:spcAft>
                <a:spcPts val="900"/>
              </a:spcAft>
              <a:defRPr sz="1600" b="1">
                <a:solidFill>
                  <a:srgbClr val="167D8D"/>
                </a:solidFill>
                <a:latin typeface="DejaVu Sans"/>
              </a:defRPr>
            </a:pPr>
            <a:r>
              <a:t>13–16’</a:t>
            </a:r>
          </a:p>
        </p:txBody>
      </p:sp>
      <p:sp>
        <p:nvSpPr>
          <p:cNvPr id="11" name="TextBox 10"/>
          <p:cNvSpPr txBox="1"/>
          <p:nvPr/>
        </p:nvSpPr>
        <p:spPr>
          <a:xfrm>
            <a:off x="1783080" y="3099815"/>
            <a:ext cx="5120640" cy="411480"/>
          </a:xfrm>
          <a:prstGeom prst="rect">
            <a:avLst/>
          </a:prstGeom>
          <a:noFill/>
        </p:spPr>
        <p:txBody>
          <a:bodyPr wrap="square" lIns="27432" rIns="27432" tIns="18288" bIns="18288">
            <a:spAutoFit/>
          </a:bodyPr>
          <a:lstStyle/>
          <a:p>
            <a:pPr>
              <a:spcAft>
                <a:spcPts val="900"/>
              </a:spcAft>
              <a:defRPr sz="1700" b="0">
                <a:solidFill>
                  <a:srgbClr val="163B58"/>
                </a:solidFill>
                <a:latin typeface="DejaVu Sans"/>
              </a:defRPr>
            </a:pPr>
            <a:r>
              <a:t>Hồ sơ và phạm vi chia sẻ</a:t>
            </a:r>
          </a:p>
        </p:txBody>
      </p:sp>
      <p:sp>
        <p:nvSpPr>
          <p:cNvPr id="12" name="TextBox 11"/>
          <p:cNvSpPr txBox="1"/>
          <p:nvPr/>
        </p:nvSpPr>
        <p:spPr>
          <a:xfrm>
            <a:off x="594360" y="3666744"/>
            <a:ext cx="1143000" cy="365760"/>
          </a:xfrm>
          <a:prstGeom prst="rect">
            <a:avLst/>
          </a:prstGeom>
          <a:noFill/>
        </p:spPr>
        <p:txBody>
          <a:bodyPr wrap="square" lIns="27432" rIns="27432" tIns="18288" bIns="18288">
            <a:spAutoFit/>
          </a:bodyPr>
          <a:lstStyle/>
          <a:p>
            <a:pPr>
              <a:spcAft>
                <a:spcPts val="900"/>
              </a:spcAft>
              <a:defRPr sz="1600" b="1">
                <a:solidFill>
                  <a:srgbClr val="167D8D"/>
                </a:solidFill>
                <a:latin typeface="DejaVu Sans"/>
              </a:defRPr>
            </a:pPr>
            <a:r>
              <a:t>16–21’</a:t>
            </a:r>
          </a:p>
        </p:txBody>
      </p:sp>
      <p:sp>
        <p:nvSpPr>
          <p:cNvPr id="13" name="TextBox 12"/>
          <p:cNvSpPr txBox="1"/>
          <p:nvPr/>
        </p:nvSpPr>
        <p:spPr>
          <a:xfrm>
            <a:off x="1783080" y="3666744"/>
            <a:ext cx="5120640" cy="411480"/>
          </a:xfrm>
          <a:prstGeom prst="rect">
            <a:avLst/>
          </a:prstGeom>
          <a:noFill/>
        </p:spPr>
        <p:txBody>
          <a:bodyPr wrap="square" lIns="27432" rIns="27432" tIns="18288" bIns="18288">
            <a:spAutoFit/>
          </a:bodyPr>
          <a:lstStyle/>
          <a:p>
            <a:pPr>
              <a:spcAft>
                <a:spcPts val="900"/>
              </a:spcAft>
              <a:defRPr sz="1700" b="0">
                <a:solidFill>
                  <a:srgbClr val="163B58"/>
                </a:solidFill>
                <a:latin typeface="DejaVu Sans"/>
              </a:defRPr>
            </a:pPr>
            <a:r>
              <a:t>Tổng kết → PDF → đánh giá → mở lại</a:t>
            </a:r>
          </a:p>
        </p:txBody>
      </p:sp>
      <p:sp>
        <p:nvSpPr>
          <p:cNvPr id="14" name="TextBox 13"/>
          <p:cNvSpPr txBox="1"/>
          <p:nvPr/>
        </p:nvSpPr>
        <p:spPr>
          <a:xfrm>
            <a:off x="594360" y="4233672"/>
            <a:ext cx="1143000" cy="365760"/>
          </a:xfrm>
          <a:prstGeom prst="rect">
            <a:avLst/>
          </a:prstGeom>
          <a:noFill/>
        </p:spPr>
        <p:txBody>
          <a:bodyPr wrap="square" lIns="27432" rIns="27432" tIns="18288" bIns="18288">
            <a:spAutoFit/>
          </a:bodyPr>
          <a:lstStyle/>
          <a:p>
            <a:pPr>
              <a:spcAft>
                <a:spcPts val="900"/>
              </a:spcAft>
              <a:defRPr sz="1600" b="1">
                <a:solidFill>
                  <a:srgbClr val="167D8D"/>
                </a:solidFill>
                <a:latin typeface="DejaVu Sans"/>
              </a:defRPr>
            </a:pPr>
            <a:r>
              <a:t>21–24’</a:t>
            </a:r>
          </a:p>
        </p:txBody>
      </p:sp>
      <p:sp>
        <p:nvSpPr>
          <p:cNvPr id="15" name="TextBox 14"/>
          <p:cNvSpPr txBox="1"/>
          <p:nvPr/>
        </p:nvSpPr>
        <p:spPr>
          <a:xfrm>
            <a:off x="1783080" y="4233672"/>
            <a:ext cx="5120640" cy="411480"/>
          </a:xfrm>
          <a:prstGeom prst="rect">
            <a:avLst/>
          </a:prstGeom>
          <a:noFill/>
        </p:spPr>
        <p:txBody>
          <a:bodyPr wrap="square" lIns="27432" rIns="27432" tIns="18288" bIns="18288">
            <a:spAutoFit/>
          </a:bodyPr>
          <a:lstStyle/>
          <a:p>
            <a:pPr>
              <a:spcAft>
                <a:spcPts val="900"/>
              </a:spcAft>
              <a:defRPr sz="1700" b="0">
                <a:solidFill>
                  <a:srgbClr val="163B58"/>
                </a:solidFill>
                <a:latin typeface="DejaVu Sans"/>
              </a:defRPr>
            </a:pPr>
            <a:r>
              <a:t>Báo cáo theo kỳ và xuất Excel</a:t>
            </a:r>
          </a:p>
        </p:txBody>
      </p:sp>
      <p:pic>
        <p:nvPicPr>
          <p:cNvPr id="16" name="Picture 15" descr="reports-desktop.png"/>
          <p:cNvPicPr>
            <a:picLocks noChangeAspect="1"/>
          </p:cNvPicPr>
          <p:nvPr/>
        </p:nvPicPr>
        <p:blipFill>
          <a:blip r:embed="rId2"/>
          <a:srcRect b="56576"/>
          <a:stretch>
            <a:fillRect/>
          </a:stretch>
        </p:blipFill>
        <p:spPr>
          <a:xfrm>
            <a:off x="7178040" y="2057400"/>
            <a:ext cx="4389120" cy="2560320"/>
          </a:xfrm>
          <a:prstGeom prst="rect">
            <a:avLst/>
          </a:prstGeom>
        </p:spPr>
      </p:pic>
      <p:sp>
        <p:nvSpPr>
          <p:cNvPr id="17" name="TextBox 16"/>
          <p:cNvSpPr txBox="1"/>
          <p:nvPr/>
        </p:nvSpPr>
        <p:spPr>
          <a:xfrm>
            <a:off x="7223760" y="4892040"/>
            <a:ext cx="4297680" cy="640080"/>
          </a:xfrm>
          <a:prstGeom prst="rect">
            <a:avLst/>
          </a:prstGeom>
          <a:noFill/>
        </p:spPr>
        <p:txBody>
          <a:bodyPr wrap="square" lIns="27432" rIns="27432" tIns="18288" bIns="18288">
            <a:spAutoFit/>
          </a:bodyPr>
          <a:lstStyle/>
          <a:p>
            <a:pPr>
              <a:spcAft>
                <a:spcPts val="900"/>
              </a:spcAft>
              <a:defRPr sz="1200" b="0">
                <a:solidFill>
                  <a:srgbClr val="526A7C"/>
                </a:solidFill>
                <a:latin typeface="DejaVu Sans"/>
              </a:defRPr>
            </a:pPr>
            <a:r>
              <a:t>Ảnh giao diện báo cáo Sprint 4</a:t>
            </a:r>
          </a:p>
          <a:p>
            <a:pPr>
              <a:spcAft>
                <a:spcPts val="900"/>
              </a:spcAft>
              <a:defRPr sz="1200" b="0">
                <a:solidFill>
                  <a:srgbClr val="526A7C"/>
                </a:solidFill>
                <a:latin typeface="DejaVu Sans"/>
              </a:defRPr>
            </a:pPr>
            <a:r>
              <a:t>Dữ liệu seed phục vụ demo</a:t>
            </a:r>
          </a:p>
        </p:txBody>
      </p:sp>
      <p:sp>
        <p:nvSpPr>
          <p:cNvPr id="18" name="Rounded Rectangle 17"/>
          <p:cNvSpPr/>
          <p:nvPr/>
        </p:nvSpPr>
        <p:spPr>
          <a:xfrm>
            <a:off x="594360" y="5486400"/>
            <a:ext cx="10881360" cy="621792"/>
          </a:xfrm>
          <a:prstGeom prst="roundRect">
            <a:avLst/>
          </a:prstGeom>
          <a:solidFill>
            <a:srgbClr val="163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23560"/>
            <a:ext cx="10515600" cy="365760"/>
          </a:xfrm>
          <a:prstGeom prst="rect">
            <a:avLst/>
          </a:prstGeom>
          <a:noFill/>
        </p:spPr>
        <p:txBody>
          <a:bodyPr wrap="square" lIns="27432" rIns="27432" tIns="18288" bIns="18288">
            <a:spAutoFit/>
          </a:bodyPr>
          <a:lstStyle/>
          <a:p>
            <a:pPr>
              <a:spcAft>
                <a:spcPts val="900"/>
              </a:spcAft>
              <a:defRPr sz="1600" b="0">
                <a:solidFill>
                  <a:srgbClr val="FFFFFF"/>
                </a:solidFill>
                <a:latin typeface="DejaVu Sans"/>
              </a:defRPr>
            </a:pPr>
            <a:r>
              <a:t>24–26’: task + commit + test     •     26–28’: hỏi đáp và dự phòng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Sports Center Management System</dc:title>
  <dc:subject/>
  <dc:creator>Nhóm SWP391</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